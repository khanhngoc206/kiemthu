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71" r:id="rId4"/>
    <p:sldId id="293" r:id="rId5"/>
    <p:sldId id="259" r:id="rId6"/>
    <p:sldId id="292" r:id="rId7"/>
    <p:sldId id="294" r:id="rId8"/>
    <p:sldId id="295" r:id="rId9"/>
    <p:sldId id="296" r:id="rId10"/>
    <p:sldId id="264" r:id="rId11"/>
    <p:sldId id="299" r:id="rId12"/>
    <p:sldId id="309" r:id="rId13"/>
  </p:sldIdLst>
  <p:sldSz cx="18288000" cy="10287000"/>
  <p:notesSz cx="6858000" cy="9144000"/>
  <p:embeddedFontLst>
    <p:embeddedFont>
      <p:font typeface="Asap" panose="020B0604020202020204" charset="0"/>
      <p:regular r:id="rId15"/>
    </p:embeddedFont>
    <p:embeddedFont>
      <p:font typeface="Asap Bold" panose="020B0604020202020204" charset="0"/>
      <p:regular r:id="rId16"/>
    </p:embeddedFont>
    <p:embeddedFont>
      <p:font typeface="Cabin Bold" panose="020B0604020202020204" charset="0"/>
      <p:regular r:id="rId17"/>
    </p:embeddedFont>
    <p:embeddedFont>
      <p:font typeface="Lazydog"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95033" autoAdjust="0"/>
  </p:normalViewPr>
  <p:slideViewPr>
    <p:cSldViewPr>
      <p:cViewPr varScale="1">
        <p:scale>
          <a:sx n="51" d="100"/>
          <a:sy n="51" d="100"/>
        </p:scale>
        <p:origin x="931"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437B8-0389-41FE-9B90-9E63AA6FE82E}"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F66EB-3B72-48EF-8416-E6235BF53007}" type="slidenum">
              <a:rPr lang="en-US" smtClean="0"/>
              <a:t>‹#›</a:t>
            </a:fld>
            <a:endParaRPr lang="en-US"/>
          </a:p>
        </p:txBody>
      </p:sp>
    </p:spTree>
    <p:extLst>
      <p:ext uri="{BB962C8B-B14F-4D97-AF65-F5344CB8AC3E}">
        <p14:creationId xmlns:p14="http://schemas.microsoft.com/office/powerpoint/2010/main" val="22000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F66EB-3B72-48EF-8416-E6235BF53007}" type="slidenum">
              <a:rPr lang="en-US" smtClean="0"/>
              <a:t>3</a:t>
            </a:fld>
            <a:endParaRPr lang="en-US"/>
          </a:p>
        </p:txBody>
      </p:sp>
    </p:spTree>
    <p:extLst>
      <p:ext uri="{BB962C8B-B14F-4D97-AF65-F5344CB8AC3E}">
        <p14:creationId xmlns:p14="http://schemas.microsoft.com/office/powerpoint/2010/main" val="4272532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33DBD-2468-2DB7-52F8-C5EE56DFD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B5CCC-F34C-C713-3134-B3898D7CDF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43A24C-7A7C-F26E-E059-1A58F42D8E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750B8F-D964-018C-F09A-14DF6682D082}"/>
              </a:ext>
            </a:extLst>
          </p:cNvPr>
          <p:cNvSpPr>
            <a:spLocks noGrp="1"/>
          </p:cNvSpPr>
          <p:nvPr>
            <p:ph type="sldNum" sz="quarter" idx="5"/>
          </p:nvPr>
        </p:nvSpPr>
        <p:spPr/>
        <p:txBody>
          <a:bodyPr/>
          <a:lstStyle/>
          <a:p>
            <a:fld id="{C94F66EB-3B72-48EF-8416-E6235BF53007}" type="slidenum">
              <a:rPr lang="en-US" smtClean="0"/>
              <a:t>4</a:t>
            </a:fld>
            <a:endParaRPr lang="en-US"/>
          </a:p>
        </p:txBody>
      </p:sp>
    </p:spTree>
    <p:extLst>
      <p:ext uri="{BB962C8B-B14F-4D97-AF65-F5344CB8AC3E}">
        <p14:creationId xmlns:p14="http://schemas.microsoft.com/office/powerpoint/2010/main" val="2608753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F66EB-3B72-48EF-8416-E6235BF53007}" type="slidenum">
              <a:rPr lang="en-US" smtClean="0"/>
              <a:t>7</a:t>
            </a:fld>
            <a:endParaRPr lang="en-US"/>
          </a:p>
        </p:txBody>
      </p:sp>
    </p:spTree>
    <p:extLst>
      <p:ext uri="{BB962C8B-B14F-4D97-AF65-F5344CB8AC3E}">
        <p14:creationId xmlns:p14="http://schemas.microsoft.com/office/powerpoint/2010/main" val="3175896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4F66EB-3B72-48EF-8416-E6235BF53007}" type="slidenum">
              <a:rPr lang="en-US" smtClean="0"/>
              <a:t>9</a:t>
            </a:fld>
            <a:endParaRPr lang="en-US"/>
          </a:p>
        </p:txBody>
      </p:sp>
    </p:spTree>
    <p:extLst>
      <p:ext uri="{BB962C8B-B14F-4D97-AF65-F5344CB8AC3E}">
        <p14:creationId xmlns:p14="http://schemas.microsoft.com/office/powerpoint/2010/main" val="3089807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873" y="-2727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txBody>
          <a:bodyPr/>
          <a:lstStyle/>
          <a:p>
            <a:endParaRPr lang="en-US" dirty="0"/>
          </a:p>
        </p:txBody>
      </p:sp>
      <p:sp>
        <p:nvSpPr>
          <p:cNvPr id="3" name="Freeform 3"/>
          <p:cNvSpPr/>
          <p:nvPr/>
        </p:nvSpPr>
        <p:spPr>
          <a:xfrm rot="-2700000">
            <a:off x="7620778" y="3216968"/>
            <a:ext cx="10673607" cy="3861905"/>
          </a:xfrm>
          <a:custGeom>
            <a:avLst/>
            <a:gdLst/>
            <a:ahLst/>
            <a:cxnLst/>
            <a:rect l="l" t="t" r="r" b="b"/>
            <a:pathLst>
              <a:path w="10673607" h="3861905">
                <a:moveTo>
                  <a:pt x="0" y="0"/>
                </a:moveTo>
                <a:lnTo>
                  <a:pt x="10673608" y="0"/>
                </a:lnTo>
                <a:lnTo>
                  <a:pt x="10673608" y="3861905"/>
                </a:lnTo>
                <a:lnTo>
                  <a:pt x="0" y="3861905"/>
                </a:lnTo>
                <a:lnTo>
                  <a:pt x="0" y="0"/>
                </a:lnTo>
                <a:close/>
              </a:path>
            </a:pathLst>
          </a:custGeom>
          <a:blipFill>
            <a:blip r:embed="rId3">
              <a:alphaModFix amt="60000"/>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95845" y="2927509"/>
            <a:ext cx="9743555" cy="2215991"/>
          </a:xfrm>
          <a:prstGeom prst="rect">
            <a:avLst/>
          </a:prstGeom>
        </p:spPr>
        <p:txBody>
          <a:bodyPr wrap="square" lIns="0" tIns="0" rIns="0" bIns="0" rtlCol="0" anchor="t">
            <a:spAutoFit/>
          </a:bodyPr>
          <a:lstStyle/>
          <a:p>
            <a:r>
              <a:rPr lang="vi-VN" sz="7200" b="1" dirty="0">
                <a:solidFill>
                  <a:schemeClr val="bg1"/>
                </a:solidFill>
              </a:rPr>
              <a:t>KIỂM THỬ HỆ THỐNG THỜI GIAN THỰC</a:t>
            </a:r>
            <a:endParaRPr lang="en-US" sz="71400" dirty="0">
              <a:solidFill>
                <a:schemeClr val="bg1"/>
              </a:solidFill>
            </a:endParaRPr>
          </a:p>
        </p:txBody>
      </p:sp>
      <p:sp>
        <p:nvSpPr>
          <p:cNvPr id="8" name="TextBox 8"/>
          <p:cNvSpPr txBox="1"/>
          <p:nvPr/>
        </p:nvSpPr>
        <p:spPr>
          <a:xfrm>
            <a:off x="695845" y="438785"/>
            <a:ext cx="6631941" cy="1173976"/>
          </a:xfrm>
          <a:prstGeom prst="rect">
            <a:avLst/>
          </a:prstGeom>
        </p:spPr>
        <p:txBody>
          <a:bodyPr lIns="0" tIns="0" rIns="0" bIns="0" rtlCol="0" anchor="t">
            <a:spAutoFit/>
          </a:bodyPr>
          <a:lstStyle/>
          <a:p>
            <a:pPr algn="l">
              <a:lnSpc>
                <a:spcPts val="4759"/>
              </a:lnSpc>
            </a:pPr>
            <a:r>
              <a:rPr lang="vi-VN" sz="3399" dirty="0">
                <a:solidFill>
                  <a:srgbClr val="F8F8F8"/>
                </a:solidFill>
                <a:latin typeface="Asap"/>
                <a:ea typeface="Asap"/>
                <a:cs typeface="Asap"/>
                <a:sym typeface="Asap"/>
              </a:rPr>
              <a:t>ĐẢM BẢO CHẤT LƯỢNG VÀ KIỂM THỬ PHẦN MỀM</a:t>
            </a:r>
            <a:endParaRPr lang="en-US" sz="3399" dirty="0">
              <a:solidFill>
                <a:srgbClr val="F8F8F8"/>
              </a:solidFill>
              <a:latin typeface="Asap"/>
              <a:ea typeface="Asap"/>
              <a:cs typeface="Asap"/>
              <a:sym typeface="Asap"/>
            </a:endParaRPr>
          </a:p>
        </p:txBody>
      </p:sp>
      <p:grpSp>
        <p:nvGrpSpPr>
          <p:cNvPr id="9" name="Group 5">
            <a:extLst>
              <a:ext uri="{FF2B5EF4-FFF2-40B4-BE49-F238E27FC236}">
                <a16:creationId xmlns:a16="http://schemas.microsoft.com/office/drawing/2014/main" id="{0B9CA2E4-C83C-30DD-3BCA-7132A7D6F89E}"/>
              </a:ext>
            </a:extLst>
          </p:cNvPr>
          <p:cNvGrpSpPr/>
          <p:nvPr/>
        </p:nvGrpSpPr>
        <p:grpSpPr>
          <a:xfrm>
            <a:off x="1028700" y="7113209"/>
            <a:ext cx="7208021" cy="1388790"/>
            <a:chOff x="0" y="-38100"/>
            <a:chExt cx="9610694" cy="1851720"/>
          </a:xfrm>
        </p:grpSpPr>
        <p:sp>
          <p:nvSpPr>
            <p:cNvPr id="10" name="TextBox 6">
              <a:extLst>
                <a:ext uri="{FF2B5EF4-FFF2-40B4-BE49-F238E27FC236}">
                  <a16:creationId xmlns:a16="http://schemas.microsoft.com/office/drawing/2014/main" id="{77115D8D-85FC-2D80-7D66-D1C7F0877325}"/>
                </a:ext>
              </a:extLst>
            </p:cNvPr>
            <p:cNvSpPr txBox="1"/>
            <p:nvPr/>
          </p:nvSpPr>
          <p:spPr>
            <a:xfrm>
              <a:off x="0" y="-38100"/>
              <a:ext cx="9610694" cy="811488"/>
            </a:xfrm>
            <a:prstGeom prst="rect">
              <a:avLst/>
            </a:prstGeom>
          </p:spPr>
          <p:txBody>
            <a:bodyPr lIns="0" tIns="0" rIns="0" bIns="0" rtlCol="0" anchor="t">
              <a:spAutoFit/>
            </a:bodyPr>
            <a:lstStyle/>
            <a:p>
              <a:pPr marL="0" lvl="0" indent="0" algn="just">
                <a:lnSpc>
                  <a:spcPts val="5009"/>
                </a:lnSpc>
                <a:spcBef>
                  <a:spcPct val="0"/>
                </a:spcBef>
              </a:pPr>
              <a:r>
                <a:rPr lang="en-US" sz="3853" b="1" u="none" spc="335" dirty="0">
                  <a:solidFill>
                    <a:srgbClr val="F8F8F8"/>
                  </a:solidFill>
                  <a:latin typeface="Cabin Bold"/>
                  <a:ea typeface="Cabin Bold"/>
                  <a:cs typeface="Cabin Bold"/>
                  <a:sym typeface="Cabin Bold"/>
                </a:rPr>
                <a:t>ĐƯỢC TRÌNH BÀY BỞI</a:t>
              </a:r>
            </a:p>
          </p:txBody>
        </p:sp>
        <p:sp>
          <p:nvSpPr>
            <p:cNvPr id="11" name="TextBox 7">
              <a:extLst>
                <a:ext uri="{FF2B5EF4-FFF2-40B4-BE49-F238E27FC236}">
                  <a16:creationId xmlns:a16="http://schemas.microsoft.com/office/drawing/2014/main" id="{6E504AFC-329D-25D8-B186-BC30D3B79F52}"/>
                </a:ext>
              </a:extLst>
            </p:cNvPr>
            <p:cNvSpPr txBox="1"/>
            <p:nvPr/>
          </p:nvSpPr>
          <p:spPr>
            <a:xfrm>
              <a:off x="0" y="897472"/>
              <a:ext cx="9610694" cy="916148"/>
            </a:xfrm>
            <a:prstGeom prst="rect">
              <a:avLst/>
            </a:prstGeom>
          </p:spPr>
          <p:txBody>
            <a:bodyPr lIns="0" tIns="0" rIns="0" bIns="0" rtlCol="0" anchor="t">
              <a:spAutoFit/>
            </a:bodyPr>
            <a:lstStyle/>
            <a:p>
              <a:pPr marL="907648" lvl="1" indent="-453824" algn="just">
                <a:lnSpc>
                  <a:spcPts val="5885"/>
                </a:lnSpc>
                <a:buFont typeface="Arial"/>
                <a:buChar char="•"/>
              </a:pPr>
              <a:r>
                <a:rPr lang="en-US" sz="4204" dirty="0" err="1">
                  <a:solidFill>
                    <a:srgbClr val="F8F8F8"/>
                  </a:solidFill>
                  <a:latin typeface="Asap"/>
                  <a:ea typeface="Asap"/>
                  <a:cs typeface="Asap"/>
                  <a:sym typeface="Asap"/>
                </a:rPr>
                <a:t>Trần</a:t>
              </a:r>
              <a:r>
                <a:rPr lang="en-US" sz="4204" dirty="0">
                  <a:solidFill>
                    <a:srgbClr val="F8F8F8"/>
                  </a:solidFill>
                  <a:latin typeface="Asap"/>
                  <a:ea typeface="Asap"/>
                  <a:cs typeface="Asap"/>
                  <a:sym typeface="Asap"/>
                </a:rPr>
                <a:t> Nguyễn Khánh Ngọc</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493922" y="3229458"/>
            <a:ext cx="1004586" cy="1004586"/>
          </a:xfrm>
          <a:custGeom>
            <a:avLst/>
            <a:gdLst/>
            <a:ahLst/>
            <a:cxnLst/>
            <a:rect l="l" t="t" r="r" b="b"/>
            <a:pathLst>
              <a:path w="1004586" h="1004586">
                <a:moveTo>
                  <a:pt x="0" y="0"/>
                </a:moveTo>
                <a:lnTo>
                  <a:pt x="1004586" y="0"/>
                </a:lnTo>
                <a:lnTo>
                  <a:pt x="1004586" y="1004585"/>
                </a:lnTo>
                <a:lnTo>
                  <a:pt x="0" y="10045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6597098" y="3332633"/>
            <a:ext cx="798234" cy="798234"/>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3639"/>
                </a:lnSpc>
              </a:pPr>
              <a:r>
                <a:rPr lang="en-US" sz="2599" b="1">
                  <a:solidFill>
                    <a:srgbClr val="01003B"/>
                  </a:solidFill>
                  <a:latin typeface="Asap Bold"/>
                  <a:ea typeface="Asap Bold"/>
                  <a:cs typeface="Asap Bold"/>
                  <a:sym typeface="Asap Bold"/>
                </a:rPr>
                <a:t>1</a:t>
              </a:r>
            </a:p>
          </p:txBody>
        </p:sp>
      </p:grpSp>
      <p:sp>
        <p:nvSpPr>
          <p:cNvPr id="6" name="Freeform 6"/>
          <p:cNvSpPr/>
          <p:nvPr/>
        </p:nvSpPr>
        <p:spPr>
          <a:xfrm>
            <a:off x="6493922" y="4794727"/>
            <a:ext cx="1004586" cy="1004586"/>
          </a:xfrm>
          <a:custGeom>
            <a:avLst/>
            <a:gdLst/>
            <a:ahLst/>
            <a:cxnLst/>
            <a:rect l="l" t="t" r="r" b="b"/>
            <a:pathLst>
              <a:path w="1004586" h="1004586">
                <a:moveTo>
                  <a:pt x="0" y="0"/>
                </a:moveTo>
                <a:lnTo>
                  <a:pt x="1004586" y="0"/>
                </a:lnTo>
                <a:lnTo>
                  <a:pt x="1004586" y="1004585"/>
                </a:lnTo>
                <a:lnTo>
                  <a:pt x="0" y="10045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6597098" y="4897902"/>
            <a:ext cx="798234" cy="798234"/>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639"/>
                </a:lnSpc>
              </a:pPr>
              <a:r>
                <a:rPr lang="en-US" sz="2599" b="1">
                  <a:solidFill>
                    <a:srgbClr val="01003B"/>
                  </a:solidFill>
                  <a:latin typeface="Asap Bold"/>
                  <a:ea typeface="Asap Bold"/>
                  <a:cs typeface="Asap Bold"/>
                  <a:sym typeface="Asap Bold"/>
                </a:rPr>
                <a:t>2</a:t>
              </a:r>
            </a:p>
          </p:txBody>
        </p:sp>
      </p:grpSp>
      <p:sp>
        <p:nvSpPr>
          <p:cNvPr id="10" name="Freeform 10"/>
          <p:cNvSpPr/>
          <p:nvPr/>
        </p:nvSpPr>
        <p:spPr>
          <a:xfrm>
            <a:off x="6493922" y="6359995"/>
            <a:ext cx="1004586" cy="1004586"/>
          </a:xfrm>
          <a:custGeom>
            <a:avLst/>
            <a:gdLst/>
            <a:ahLst/>
            <a:cxnLst/>
            <a:rect l="l" t="t" r="r" b="b"/>
            <a:pathLst>
              <a:path w="1004586" h="1004586">
                <a:moveTo>
                  <a:pt x="0" y="0"/>
                </a:moveTo>
                <a:lnTo>
                  <a:pt x="1004586" y="0"/>
                </a:lnTo>
                <a:lnTo>
                  <a:pt x="1004586" y="1004586"/>
                </a:lnTo>
                <a:lnTo>
                  <a:pt x="0" y="10045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6597098" y="6463171"/>
            <a:ext cx="798234" cy="79823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639"/>
                </a:lnSpc>
              </a:pPr>
              <a:r>
                <a:rPr lang="en-US" sz="2599" b="1">
                  <a:solidFill>
                    <a:srgbClr val="01003B"/>
                  </a:solidFill>
                  <a:latin typeface="Asap Bold"/>
                  <a:ea typeface="Asap Bold"/>
                  <a:cs typeface="Asap Bold"/>
                  <a:sym typeface="Asap Bold"/>
                </a:rPr>
                <a:t>3</a:t>
              </a:r>
            </a:p>
          </p:txBody>
        </p:sp>
      </p:grpSp>
      <p:sp>
        <p:nvSpPr>
          <p:cNvPr id="14" name="Freeform 14"/>
          <p:cNvSpPr/>
          <p:nvPr/>
        </p:nvSpPr>
        <p:spPr>
          <a:xfrm>
            <a:off x="11750555" y="3203659"/>
            <a:ext cx="1004586" cy="1004586"/>
          </a:xfrm>
          <a:custGeom>
            <a:avLst/>
            <a:gdLst/>
            <a:ahLst/>
            <a:cxnLst/>
            <a:rect l="l" t="t" r="r" b="b"/>
            <a:pathLst>
              <a:path w="1004586" h="1004586">
                <a:moveTo>
                  <a:pt x="0" y="0"/>
                </a:moveTo>
                <a:lnTo>
                  <a:pt x="1004586" y="0"/>
                </a:lnTo>
                <a:lnTo>
                  <a:pt x="1004586" y="1004586"/>
                </a:lnTo>
                <a:lnTo>
                  <a:pt x="0" y="10045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a:off x="11853731" y="3306835"/>
            <a:ext cx="798234" cy="79823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17" name="TextBox 17"/>
            <p:cNvSpPr txBox="1"/>
            <p:nvPr/>
          </p:nvSpPr>
          <p:spPr>
            <a:xfrm>
              <a:off x="76200" y="19050"/>
              <a:ext cx="660400" cy="717550"/>
            </a:xfrm>
            <a:prstGeom prst="rect">
              <a:avLst/>
            </a:prstGeom>
          </p:spPr>
          <p:txBody>
            <a:bodyPr lIns="50800" tIns="50800" rIns="50800" bIns="50800" rtlCol="0" anchor="ctr"/>
            <a:lstStyle/>
            <a:p>
              <a:pPr algn="ctr">
                <a:lnSpc>
                  <a:spcPts val="3639"/>
                </a:lnSpc>
              </a:pPr>
              <a:r>
                <a:rPr lang="en-US" sz="2599" b="1" dirty="0">
                  <a:solidFill>
                    <a:srgbClr val="01003B"/>
                  </a:solidFill>
                  <a:latin typeface="Asap Bold"/>
                  <a:ea typeface="Asap Bold"/>
                  <a:cs typeface="Asap Bold"/>
                  <a:sym typeface="Asap Bold"/>
                </a:rPr>
                <a:t>4</a:t>
              </a:r>
            </a:p>
          </p:txBody>
        </p:sp>
      </p:grpSp>
      <p:sp>
        <p:nvSpPr>
          <p:cNvPr id="30" name="TextBox 30"/>
          <p:cNvSpPr txBox="1"/>
          <p:nvPr/>
        </p:nvSpPr>
        <p:spPr>
          <a:xfrm>
            <a:off x="1028700" y="3342175"/>
            <a:ext cx="4817522" cy="906658"/>
          </a:xfrm>
          <a:prstGeom prst="rect">
            <a:avLst/>
          </a:prstGeom>
        </p:spPr>
        <p:txBody>
          <a:bodyPr lIns="0" tIns="0" rIns="0" bIns="0" rtlCol="0" anchor="t">
            <a:spAutoFit/>
          </a:bodyPr>
          <a:lstStyle/>
          <a:p>
            <a:pPr algn="l">
              <a:lnSpc>
                <a:spcPts val="7388"/>
              </a:lnSpc>
            </a:pPr>
            <a:r>
              <a:rPr lang="vi-VN" sz="6156" b="1" dirty="0">
                <a:solidFill>
                  <a:srgbClr val="01003B"/>
                </a:solidFill>
                <a:latin typeface="Cabin Bold"/>
                <a:ea typeface="Cabin Bold"/>
                <a:cs typeface="Cabin Bold"/>
                <a:sym typeface="Cabin Bold"/>
              </a:rPr>
              <a:t>MỤC LỤC</a:t>
            </a:r>
            <a:endParaRPr lang="en-US" sz="6156" b="1" dirty="0">
              <a:solidFill>
                <a:srgbClr val="01003B"/>
              </a:solidFill>
              <a:latin typeface="Cabin Bold"/>
              <a:ea typeface="Cabin Bold"/>
              <a:cs typeface="Cabin Bold"/>
              <a:sym typeface="Cabin Bold"/>
            </a:endParaRPr>
          </a:p>
        </p:txBody>
      </p:sp>
      <p:sp>
        <p:nvSpPr>
          <p:cNvPr id="31" name="TextBox 31"/>
          <p:cNvSpPr txBox="1"/>
          <p:nvPr/>
        </p:nvSpPr>
        <p:spPr>
          <a:xfrm>
            <a:off x="8042795" y="3488545"/>
            <a:ext cx="3562353" cy="405765"/>
          </a:xfrm>
          <a:prstGeom prst="rect">
            <a:avLst/>
          </a:prstGeom>
        </p:spPr>
        <p:txBody>
          <a:bodyPr lIns="0" tIns="0" rIns="0" bIns="0" rtlCol="0" anchor="t">
            <a:spAutoFit/>
          </a:bodyPr>
          <a:lstStyle/>
          <a:p>
            <a:pPr algn="l">
              <a:lnSpc>
                <a:spcPts val="3359"/>
              </a:lnSpc>
            </a:pPr>
            <a:r>
              <a:rPr lang="vi-VN" sz="2400" u="sng" dirty="0">
                <a:solidFill>
                  <a:srgbClr val="01003B"/>
                </a:solidFill>
                <a:latin typeface="Asap"/>
                <a:ea typeface="Asap"/>
                <a:cs typeface="Asap"/>
                <a:sym typeface="Asap"/>
              </a:rPr>
              <a:t>Hệ thống kiểm thử</a:t>
            </a:r>
            <a:endParaRPr lang="en-US" sz="2400" dirty="0">
              <a:solidFill>
                <a:srgbClr val="01003B"/>
              </a:solidFill>
              <a:latin typeface="Asap"/>
              <a:ea typeface="Asap"/>
              <a:cs typeface="Asap"/>
              <a:sym typeface="Asap"/>
            </a:endParaRPr>
          </a:p>
        </p:txBody>
      </p:sp>
      <p:sp>
        <p:nvSpPr>
          <p:cNvPr id="32" name="TextBox 32"/>
          <p:cNvSpPr txBox="1"/>
          <p:nvPr/>
        </p:nvSpPr>
        <p:spPr>
          <a:xfrm>
            <a:off x="7886907" y="6659405"/>
            <a:ext cx="3562353" cy="405765"/>
          </a:xfrm>
          <a:prstGeom prst="rect">
            <a:avLst/>
          </a:prstGeom>
        </p:spPr>
        <p:txBody>
          <a:bodyPr lIns="0" tIns="0" rIns="0" bIns="0" rtlCol="0" anchor="t">
            <a:spAutoFit/>
          </a:bodyPr>
          <a:lstStyle/>
          <a:p>
            <a:pPr algn="l">
              <a:lnSpc>
                <a:spcPts val="3359"/>
              </a:lnSpc>
            </a:pPr>
            <a:r>
              <a:rPr lang="vi-VN" sz="2400" u="sng" dirty="0">
                <a:solidFill>
                  <a:srgbClr val="01003B"/>
                </a:solidFill>
                <a:latin typeface="Asap"/>
                <a:ea typeface="Asap"/>
                <a:cs typeface="Asap"/>
                <a:sym typeface="Asap"/>
              </a:rPr>
              <a:t>Môi trường kiểm thử</a:t>
            </a:r>
            <a:endParaRPr lang="en-US" sz="2400" u="sng" dirty="0">
              <a:solidFill>
                <a:srgbClr val="01003B"/>
              </a:solidFill>
              <a:latin typeface="Asap"/>
              <a:ea typeface="Asap"/>
              <a:cs typeface="Asap"/>
              <a:sym typeface="Asap"/>
            </a:endParaRPr>
          </a:p>
        </p:txBody>
      </p:sp>
      <p:sp>
        <p:nvSpPr>
          <p:cNvPr id="34" name="TextBox 34"/>
          <p:cNvSpPr txBox="1"/>
          <p:nvPr/>
        </p:nvSpPr>
        <p:spPr>
          <a:xfrm>
            <a:off x="8041434" y="5073975"/>
            <a:ext cx="3562353" cy="405765"/>
          </a:xfrm>
          <a:prstGeom prst="rect">
            <a:avLst/>
          </a:prstGeom>
        </p:spPr>
        <p:txBody>
          <a:bodyPr lIns="0" tIns="0" rIns="0" bIns="0" rtlCol="0" anchor="t">
            <a:spAutoFit/>
          </a:bodyPr>
          <a:lstStyle/>
          <a:p>
            <a:pPr algn="l">
              <a:lnSpc>
                <a:spcPts val="3359"/>
              </a:lnSpc>
            </a:pPr>
            <a:r>
              <a:rPr lang="vi-VN" sz="2400" u="sng" dirty="0">
                <a:solidFill>
                  <a:srgbClr val="01003B"/>
                </a:solidFill>
                <a:latin typeface="Asap"/>
                <a:ea typeface="Asap"/>
                <a:cs typeface="Asap"/>
                <a:sym typeface="Asap"/>
              </a:rPr>
              <a:t>Mục tiêu kiểm thử</a:t>
            </a:r>
            <a:endParaRPr lang="en-US" sz="2400" u="sng" dirty="0">
              <a:solidFill>
                <a:srgbClr val="01003B"/>
              </a:solidFill>
              <a:latin typeface="Asap"/>
              <a:ea typeface="Asap"/>
              <a:cs typeface="Asap"/>
              <a:sym typeface="Asap"/>
            </a:endParaRPr>
          </a:p>
        </p:txBody>
      </p:sp>
      <p:sp>
        <p:nvSpPr>
          <p:cNvPr id="35" name="TextBox 35"/>
          <p:cNvSpPr txBox="1"/>
          <p:nvPr/>
        </p:nvSpPr>
        <p:spPr>
          <a:xfrm>
            <a:off x="13696947" y="3488545"/>
            <a:ext cx="3562353" cy="405765"/>
          </a:xfrm>
          <a:prstGeom prst="rect">
            <a:avLst/>
          </a:prstGeom>
        </p:spPr>
        <p:txBody>
          <a:bodyPr lIns="0" tIns="0" rIns="0" bIns="0" rtlCol="0" anchor="t">
            <a:spAutoFit/>
          </a:bodyPr>
          <a:lstStyle/>
          <a:p>
            <a:pPr algn="l">
              <a:lnSpc>
                <a:spcPts val="3359"/>
              </a:lnSpc>
            </a:pPr>
            <a:r>
              <a:rPr lang="vi-VN" sz="2400" u="sng" dirty="0">
                <a:solidFill>
                  <a:srgbClr val="01003B"/>
                </a:solidFill>
                <a:latin typeface="Asap"/>
                <a:ea typeface="Asap"/>
                <a:cs typeface="Asap"/>
                <a:sym typeface="Asap"/>
              </a:rPr>
              <a:t>Danh sách các testcase</a:t>
            </a:r>
            <a:endParaRPr lang="en-US" sz="2400" u="sng" dirty="0">
              <a:solidFill>
                <a:srgbClr val="01003B"/>
              </a:solidFill>
              <a:latin typeface="Asap"/>
              <a:ea typeface="Asap"/>
              <a:cs typeface="Asap"/>
              <a:sym typeface="Asap"/>
            </a:endParaRPr>
          </a:p>
        </p:txBody>
      </p:sp>
      <p:sp>
        <p:nvSpPr>
          <p:cNvPr id="37" name="TextBox 37"/>
          <p:cNvSpPr txBox="1"/>
          <p:nvPr/>
        </p:nvSpPr>
        <p:spPr>
          <a:xfrm>
            <a:off x="13692031" y="4979834"/>
            <a:ext cx="3562353" cy="405765"/>
          </a:xfrm>
          <a:prstGeom prst="rect">
            <a:avLst/>
          </a:prstGeom>
        </p:spPr>
        <p:txBody>
          <a:bodyPr lIns="0" tIns="0" rIns="0" bIns="0" rtlCol="0" anchor="t">
            <a:spAutoFit/>
          </a:bodyPr>
          <a:lstStyle/>
          <a:p>
            <a:pPr algn="l">
              <a:lnSpc>
                <a:spcPts val="3359"/>
              </a:lnSpc>
            </a:pPr>
            <a:r>
              <a:rPr lang="en-US" sz="2400" u="sng" dirty="0" err="1">
                <a:solidFill>
                  <a:srgbClr val="01003B"/>
                </a:solidFill>
                <a:latin typeface="Asap"/>
                <a:ea typeface="Asap"/>
                <a:cs typeface="Asap"/>
                <a:sym typeface="Asap"/>
              </a:rPr>
              <a:t>Kết</a:t>
            </a:r>
            <a:r>
              <a:rPr lang="en-US" sz="2400" u="sng" dirty="0">
                <a:solidFill>
                  <a:srgbClr val="01003B"/>
                </a:solidFill>
                <a:latin typeface="Asap"/>
                <a:ea typeface="Asap"/>
                <a:cs typeface="Asap"/>
                <a:sym typeface="Asap"/>
              </a:rPr>
              <a:t> </a:t>
            </a:r>
            <a:r>
              <a:rPr lang="vi-VN" sz="2400" u="sng" dirty="0">
                <a:solidFill>
                  <a:srgbClr val="01003B"/>
                </a:solidFill>
                <a:latin typeface="Asap"/>
                <a:ea typeface="Asap"/>
                <a:cs typeface="Asap"/>
                <a:sym typeface="Asap"/>
              </a:rPr>
              <a:t>quả thực thi</a:t>
            </a:r>
            <a:endParaRPr lang="en-US" sz="2400" u="sng" dirty="0">
              <a:solidFill>
                <a:srgbClr val="01003B"/>
              </a:solidFill>
              <a:latin typeface="Asap"/>
              <a:ea typeface="Asap"/>
              <a:cs typeface="Asap"/>
              <a:sym typeface="Asap"/>
            </a:endParaRPr>
          </a:p>
        </p:txBody>
      </p:sp>
      <p:sp>
        <p:nvSpPr>
          <p:cNvPr id="44" name="TextBox 44"/>
          <p:cNvSpPr txBox="1"/>
          <p:nvPr/>
        </p:nvSpPr>
        <p:spPr>
          <a:xfrm>
            <a:off x="12327683" y="7943973"/>
            <a:ext cx="648565" cy="704691"/>
          </a:xfrm>
          <a:prstGeom prst="rect">
            <a:avLst/>
          </a:prstGeom>
        </p:spPr>
        <p:txBody>
          <a:bodyPr lIns="50800" tIns="50800" rIns="50800" bIns="50800" rtlCol="0" anchor="ctr"/>
          <a:lstStyle/>
          <a:p>
            <a:pPr algn="ctr">
              <a:lnSpc>
                <a:spcPts val="3639"/>
              </a:lnSpc>
            </a:pPr>
            <a:endParaRPr lang="en-US" sz="2599" b="1" dirty="0">
              <a:solidFill>
                <a:srgbClr val="01003B"/>
              </a:solidFill>
              <a:latin typeface="Asap Bold"/>
              <a:ea typeface="Asap Bold"/>
              <a:cs typeface="Asap Bold"/>
              <a:sym typeface="Asap Bold"/>
            </a:endParaRPr>
          </a:p>
        </p:txBody>
      </p:sp>
      <p:sp>
        <p:nvSpPr>
          <p:cNvPr id="49" name="Freeform 14">
            <a:extLst>
              <a:ext uri="{FF2B5EF4-FFF2-40B4-BE49-F238E27FC236}">
                <a16:creationId xmlns:a16="http://schemas.microsoft.com/office/drawing/2014/main" id="{D70604C9-8FEC-F28D-2C25-AD9FC48B17FA}"/>
              </a:ext>
            </a:extLst>
          </p:cNvPr>
          <p:cNvSpPr/>
          <p:nvPr/>
        </p:nvSpPr>
        <p:spPr>
          <a:xfrm>
            <a:off x="11775136" y="4719892"/>
            <a:ext cx="1004586" cy="1004586"/>
          </a:xfrm>
          <a:custGeom>
            <a:avLst/>
            <a:gdLst/>
            <a:ahLst/>
            <a:cxnLst/>
            <a:rect l="l" t="t" r="r" b="b"/>
            <a:pathLst>
              <a:path w="1004586" h="1004586">
                <a:moveTo>
                  <a:pt x="0" y="0"/>
                </a:moveTo>
                <a:lnTo>
                  <a:pt x="1004586" y="0"/>
                </a:lnTo>
                <a:lnTo>
                  <a:pt x="1004586" y="1004586"/>
                </a:lnTo>
                <a:lnTo>
                  <a:pt x="0" y="10045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0" name="Group 15">
            <a:extLst>
              <a:ext uri="{FF2B5EF4-FFF2-40B4-BE49-F238E27FC236}">
                <a16:creationId xmlns:a16="http://schemas.microsoft.com/office/drawing/2014/main" id="{5BFEC4A9-223D-0240-AEBA-FC3ADCF5150D}"/>
              </a:ext>
            </a:extLst>
          </p:cNvPr>
          <p:cNvGrpSpPr/>
          <p:nvPr/>
        </p:nvGrpSpPr>
        <p:grpSpPr>
          <a:xfrm>
            <a:off x="11878312" y="4823068"/>
            <a:ext cx="798234" cy="798234"/>
            <a:chOff x="0" y="0"/>
            <a:chExt cx="812800" cy="812800"/>
          </a:xfrm>
        </p:grpSpPr>
        <p:sp>
          <p:nvSpPr>
            <p:cNvPr id="51" name="Freeform 16">
              <a:extLst>
                <a:ext uri="{FF2B5EF4-FFF2-40B4-BE49-F238E27FC236}">
                  <a16:creationId xmlns:a16="http://schemas.microsoft.com/office/drawing/2014/main" id="{4009C4AA-7AD2-CBFE-2345-09D5DD2E28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52" name="TextBox 17">
              <a:extLst>
                <a:ext uri="{FF2B5EF4-FFF2-40B4-BE49-F238E27FC236}">
                  <a16:creationId xmlns:a16="http://schemas.microsoft.com/office/drawing/2014/main" id="{1E9BB348-E4E4-FC74-166D-624A86CB237E}"/>
                </a:ext>
              </a:extLst>
            </p:cNvPr>
            <p:cNvSpPr txBox="1"/>
            <p:nvPr/>
          </p:nvSpPr>
          <p:spPr>
            <a:xfrm>
              <a:off x="76200" y="19050"/>
              <a:ext cx="660400" cy="717550"/>
            </a:xfrm>
            <a:prstGeom prst="rect">
              <a:avLst/>
            </a:prstGeom>
          </p:spPr>
          <p:txBody>
            <a:bodyPr lIns="50800" tIns="50800" rIns="50800" bIns="50800" rtlCol="0" anchor="ctr"/>
            <a:lstStyle/>
            <a:p>
              <a:pPr algn="ctr">
                <a:lnSpc>
                  <a:spcPts val="3639"/>
                </a:lnSpc>
              </a:pPr>
              <a:r>
                <a:rPr lang="vi-VN" sz="2599" b="1" dirty="0">
                  <a:solidFill>
                    <a:srgbClr val="01003B"/>
                  </a:solidFill>
                  <a:latin typeface="Asap Bold"/>
                  <a:ea typeface="Asap Bold"/>
                  <a:cs typeface="Asap Bold"/>
                  <a:sym typeface="Asap Bold"/>
                </a:rPr>
                <a:t>5</a:t>
              </a:r>
              <a:endParaRPr lang="en-US" sz="2599" b="1" dirty="0">
                <a:solidFill>
                  <a:srgbClr val="01003B"/>
                </a:solidFill>
                <a:latin typeface="Asap Bold"/>
                <a:ea typeface="Asap Bold"/>
                <a:cs typeface="Asap Bold"/>
                <a:sym typeface="Asap Bold"/>
              </a:endParaRPr>
            </a:p>
          </p:txBody>
        </p:sp>
      </p:grpSp>
      <p:sp>
        <p:nvSpPr>
          <p:cNvPr id="18" name="TextBox 37">
            <a:extLst>
              <a:ext uri="{FF2B5EF4-FFF2-40B4-BE49-F238E27FC236}">
                <a16:creationId xmlns:a16="http://schemas.microsoft.com/office/drawing/2014/main" id="{FFD01794-A92B-7C89-698A-340CAE7AEF0D}"/>
              </a:ext>
            </a:extLst>
          </p:cNvPr>
          <p:cNvSpPr txBox="1"/>
          <p:nvPr/>
        </p:nvSpPr>
        <p:spPr>
          <a:xfrm>
            <a:off x="13692031" y="6622041"/>
            <a:ext cx="3562353" cy="405765"/>
          </a:xfrm>
          <a:prstGeom prst="rect">
            <a:avLst/>
          </a:prstGeom>
        </p:spPr>
        <p:txBody>
          <a:bodyPr lIns="0" tIns="0" rIns="0" bIns="0" rtlCol="0" anchor="t">
            <a:spAutoFit/>
          </a:bodyPr>
          <a:lstStyle/>
          <a:p>
            <a:pPr algn="l">
              <a:lnSpc>
                <a:spcPts val="3359"/>
              </a:lnSpc>
            </a:pPr>
            <a:r>
              <a:rPr lang="en-US" sz="2400" u="sng" dirty="0" err="1">
                <a:solidFill>
                  <a:srgbClr val="01003B"/>
                </a:solidFill>
                <a:latin typeface="Asap"/>
                <a:ea typeface="Asap"/>
                <a:cs typeface="Asap"/>
                <a:sym typeface="Asap"/>
              </a:rPr>
              <a:t>Kết</a:t>
            </a:r>
            <a:r>
              <a:rPr lang="en-US" sz="2400" u="sng" dirty="0">
                <a:solidFill>
                  <a:srgbClr val="01003B"/>
                </a:solidFill>
                <a:latin typeface="Asap"/>
                <a:ea typeface="Asap"/>
                <a:cs typeface="Asap"/>
                <a:sym typeface="Asap"/>
              </a:rPr>
              <a:t> </a:t>
            </a:r>
            <a:r>
              <a:rPr lang="vi-VN" sz="2400" u="sng" dirty="0">
                <a:solidFill>
                  <a:srgbClr val="01003B"/>
                </a:solidFill>
                <a:latin typeface="Asap"/>
                <a:ea typeface="Asap"/>
                <a:cs typeface="Asap"/>
                <a:sym typeface="Asap"/>
              </a:rPr>
              <a:t>luận</a:t>
            </a:r>
            <a:endParaRPr lang="en-US" sz="2400" u="sng" dirty="0">
              <a:solidFill>
                <a:srgbClr val="01003B"/>
              </a:solidFill>
              <a:latin typeface="Asap"/>
              <a:ea typeface="Asap"/>
              <a:cs typeface="Asap"/>
              <a:sym typeface="Asap"/>
            </a:endParaRPr>
          </a:p>
        </p:txBody>
      </p:sp>
      <p:sp>
        <p:nvSpPr>
          <p:cNvPr id="19" name="Freeform 14">
            <a:extLst>
              <a:ext uri="{FF2B5EF4-FFF2-40B4-BE49-F238E27FC236}">
                <a16:creationId xmlns:a16="http://schemas.microsoft.com/office/drawing/2014/main" id="{92CAA478-E615-0BAE-96BF-D07B9A1EF3C9}"/>
              </a:ext>
            </a:extLst>
          </p:cNvPr>
          <p:cNvSpPr/>
          <p:nvPr/>
        </p:nvSpPr>
        <p:spPr>
          <a:xfrm>
            <a:off x="11775136" y="6362099"/>
            <a:ext cx="1004586" cy="1004586"/>
          </a:xfrm>
          <a:custGeom>
            <a:avLst/>
            <a:gdLst/>
            <a:ahLst/>
            <a:cxnLst/>
            <a:rect l="l" t="t" r="r" b="b"/>
            <a:pathLst>
              <a:path w="1004586" h="1004586">
                <a:moveTo>
                  <a:pt x="0" y="0"/>
                </a:moveTo>
                <a:lnTo>
                  <a:pt x="1004586" y="0"/>
                </a:lnTo>
                <a:lnTo>
                  <a:pt x="1004586" y="1004586"/>
                </a:lnTo>
                <a:lnTo>
                  <a:pt x="0" y="10045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0" name="Group 15">
            <a:extLst>
              <a:ext uri="{FF2B5EF4-FFF2-40B4-BE49-F238E27FC236}">
                <a16:creationId xmlns:a16="http://schemas.microsoft.com/office/drawing/2014/main" id="{AFB338FF-22ED-FB47-E01A-E603E0868DE1}"/>
              </a:ext>
            </a:extLst>
          </p:cNvPr>
          <p:cNvGrpSpPr/>
          <p:nvPr/>
        </p:nvGrpSpPr>
        <p:grpSpPr>
          <a:xfrm>
            <a:off x="11878312" y="6465275"/>
            <a:ext cx="798234" cy="798234"/>
            <a:chOff x="0" y="0"/>
            <a:chExt cx="812800" cy="812800"/>
          </a:xfrm>
        </p:grpSpPr>
        <p:sp>
          <p:nvSpPr>
            <p:cNvPr id="21" name="Freeform 16">
              <a:extLst>
                <a:ext uri="{FF2B5EF4-FFF2-40B4-BE49-F238E27FC236}">
                  <a16:creationId xmlns:a16="http://schemas.microsoft.com/office/drawing/2014/main" id="{9F5DE5EA-2DD6-6748-7FF2-1B7EC31F5A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22" name="TextBox 17">
              <a:extLst>
                <a:ext uri="{FF2B5EF4-FFF2-40B4-BE49-F238E27FC236}">
                  <a16:creationId xmlns:a16="http://schemas.microsoft.com/office/drawing/2014/main" id="{624237D4-A235-979D-09E1-654C6755E270}"/>
                </a:ext>
              </a:extLst>
            </p:cNvPr>
            <p:cNvSpPr txBox="1"/>
            <p:nvPr/>
          </p:nvSpPr>
          <p:spPr>
            <a:xfrm>
              <a:off x="76200" y="19050"/>
              <a:ext cx="660400" cy="717550"/>
            </a:xfrm>
            <a:prstGeom prst="rect">
              <a:avLst/>
            </a:prstGeom>
          </p:spPr>
          <p:txBody>
            <a:bodyPr lIns="50800" tIns="50800" rIns="50800" bIns="50800" rtlCol="0" anchor="ctr"/>
            <a:lstStyle/>
            <a:p>
              <a:pPr algn="ctr">
                <a:lnSpc>
                  <a:spcPts val="3639"/>
                </a:lnSpc>
              </a:pPr>
              <a:r>
                <a:rPr lang="vi-VN" sz="2599" b="1" dirty="0">
                  <a:solidFill>
                    <a:srgbClr val="01003B"/>
                  </a:solidFill>
                  <a:latin typeface="Asap Bold"/>
                  <a:ea typeface="Asap Bold"/>
                  <a:cs typeface="Asap Bold"/>
                  <a:sym typeface="Asap Bold"/>
                </a:rPr>
                <a:t>6</a:t>
              </a:r>
              <a:endParaRPr lang="en-US" sz="2599" b="1" dirty="0">
                <a:solidFill>
                  <a:srgbClr val="01003B"/>
                </a:solidFill>
                <a:latin typeface="Asap Bold"/>
                <a:ea typeface="Asap Bold"/>
                <a:cs typeface="Asap Bold"/>
                <a:sym typeface="Asap 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422C3B1D-4108-1BD8-B0C8-1CC749F96704}"/>
              </a:ext>
            </a:extLst>
          </p:cNvPr>
          <p:cNvSpPr txBox="1"/>
          <p:nvPr/>
        </p:nvSpPr>
        <p:spPr>
          <a:xfrm>
            <a:off x="3124200" y="2400300"/>
            <a:ext cx="8991600" cy="1015663"/>
          </a:xfrm>
          <a:prstGeom prst="rect">
            <a:avLst/>
          </a:prstGeom>
          <a:noFill/>
        </p:spPr>
        <p:txBody>
          <a:bodyPr wrap="square" rtlCol="0">
            <a:spAutoFit/>
          </a:bodyPr>
          <a:lstStyle/>
          <a:p>
            <a:r>
              <a:rPr lang="vi-VN" sz="6000" dirty="0">
                <a:solidFill>
                  <a:schemeClr val="tx2"/>
                </a:solidFill>
                <a:latin typeface="Asap" panose="020B0604020202020204" charset="0"/>
              </a:rPr>
              <a:t>HỆ THỐNG KIỂM THỬ</a:t>
            </a:r>
            <a:endParaRPr lang="en-US" sz="6000" dirty="0">
              <a:solidFill>
                <a:schemeClr val="tx2"/>
              </a:solidFill>
              <a:latin typeface="Asap" panose="020B0604020202020204" charset="0"/>
            </a:endParaRPr>
          </a:p>
        </p:txBody>
      </p:sp>
      <p:sp>
        <p:nvSpPr>
          <p:cNvPr id="12" name="TextBox 11">
            <a:extLst>
              <a:ext uri="{FF2B5EF4-FFF2-40B4-BE49-F238E27FC236}">
                <a16:creationId xmlns:a16="http://schemas.microsoft.com/office/drawing/2014/main" id="{ABCFFDB6-F3F7-7133-6922-44215A832784}"/>
              </a:ext>
            </a:extLst>
          </p:cNvPr>
          <p:cNvSpPr txBox="1"/>
          <p:nvPr/>
        </p:nvSpPr>
        <p:spPr>
          <a:xfrm>
            <a:off x="2514600" y="3407843"/>
            <a:ext cx="9372600" cy="4154984"/>
          </a:xfrm>
          <a:prstGeom prst="rect">
            <a:avLst/>
          </a:prstGeom>
          <a:noFill/>
        </p:spPr>
        <p:txBody>
          <a:bodyPr wrap="square" rtlCol="0">
            <a:spAutoFit/>
          </a:bodyPr>
          <a:lstStyle/>
          <a:p>
            <a:pPr lvl="0" eaLnBrk="0" fontAlgn="base" hangingPunct="0">
              <a:spcBef>
                <a:spcPct val="0"/>
              </a:spcBef>
              <a:spcAft>
                <a:spcPct val="0"/>
              </a:spcAft>
              <a:buFontTx/>
              <a:buChar char="•"/>
            </a:pPr>
            <a:r>
              <a:rPr lang="vi-VN" altLang="en-US" sz="4400" dirty="0">
                <a:latin typeface="Arial" panose="020B0604020202020204" pitchFamily="34" charset="0"/>
              </a:rPr>
              <a:t> </a:t>
            </a:r>
            <a:r>
              <a:rPr lang="en-US" altLang="en-US" sz="4400" dirty="0">
                <a:latin typeface="Arial" panose="020B0604020202020204" pitchFamily="34" charset="0"/>
              </a:rPr>
              <a:t>Smart Traffic Light System</a:t>
            </a:r>
          </a:p>
          <a:p>
            <a:pPr lvl="0" eaLnBrk="0" fontAlgn="base" hangingPunct="0">
              <a:spcBef>
                <a:spcPct val="0"/>
              </a:spcBef>
              <a:spcAft>
                <a:spcPct val="0"/>
              </a:spcAft>
              <a:buFontTx/>
              <a:buChar char="•"/>
            </a:pPr>
            <a:r>
              <a:rPr lang="vi-VN" altLang="en-US" sz="4400" dirty="0">
                <a:latin typeface="Arial" panose="020B0604020202020204" pitchFamily="34" charset="0"/>
              </a:rPr>
              <a:t> </a:t>
            </a:r>
            <a:r>
              <a:rPr lang="en-US" altLang="en-US" sz="4400" dirty="0">
                <a:latin typeface="Arial" panose="020B0604020202020204" pitchFamily="34" charset="0"/>
              </a:rPr>
              <a:t>ESP32 Microcontroller</a:t>
            </a:r>
          </a:p>
          <a:p>
            <a:pPr lvl="0" eaLnBrk="0" fontAlgn="base" hangingPunct="0">
              <a:spcBef>
                <a:spcPct val="0"/>
              </a:spcBef>
              <a:spcAft>
                <a:spcPct val="0"/>
              </a:spcAft>
              <a:buFontTx/>
              <a:buChar char="•"/>
            </a:pPr>
            <a:r>
              <a:rPr lang="vi-VN" altLang="en-US" sz="4400" dirty="0">
                <a:latin typeface="Arial" panose="020B0604020202020204" pitchFamily="34" charset="0"/>
              </a:rPr>
              <a:t> </a:t>
            </a:r>
            <a:r>
              <a:rPr lang="en-US" altLang="en-US" sz="4400" dirty="0" err="1">
                <a:latin typeface="Arial" panose="020B0604020202020204" pitchFamily="34" charset="0"/>
              </a:rPr>
              <a:t>Wokwi</a:t>
            </a:r>
            <a:r>
              <a:rPr lang="en-US" altLang="en-US" sz="4400" dirty="0">
                <a:latin typeface="Arial" panose="020B0604020202020204" pitchFamily="34" charset="0"/>
              </a:rPr>
              <a:t> Hardware Simulator</a:t>
            </a:r>
          </a:p>
          <a:p>
            <a:pPr lvl="0" eaLnBrk="0" fontAlgn="base" hangingPunct="0">
              <a:spcBef>
                <a:spcPct val="0"/>
              </a:spcBef>
              <a:spcAft>
                <a:spcPct val="0"/>
              </a:spcAft>
              <a:buFontTx/>
              <a:buChar char="•"/>
            </a:pPr>
            <a:r>
              <a:rPr lang="vi-VN" altLang="en-US" sz="4400" dirty="0">
                <a:latin typeface="Arial" panose="020B0604020202020204" pitchFamily="34" charset="0"/>
              </a:rPr>
              <a:t> </a:t>
            </a:r>
            <a:r>
              <a:rPr lang="en-US" altLang="en-US" sz="4400" dirty="0">
                <a:latin typeface="Arial" panose="020B0604020202020204" pitchFamily="34" charset="0"/>
              </a:rPr>
              <a:t>Arduino Framework</a:t>
            </a:r>
          </a:p>
          <a:p>
            <a:pPr lvl="0" eaLnBrk="0" fontAlgn="base" hangingPunct="0">
              <a:spcBef>
                <a:spcPct val="0"/>
              </a:spcBef>
              <a:spcAft>
                <a:spcPct val="0"/>
              </a:spcAft>
              <a:buFontTx/>
              <a:buChar char="•"/>
            </a:pPr>
            <a:r>
              <a:rPr lang="vi-VN" altLang="en-US" sz="4400" dirty="0">
                <a:latin typeface="Arial" panose="020B0604020202020204" pitchFamily="34" charset="0"/>
              </a:rPr>
              <a:t> </a:t>
            </a:r>
            <a:r>
              <a:rPr lang="en-US" altLang="en-US" sz="4400" dirty="0">
                <a:latin typeface="Arial" panose="020B0604020202020204" pitchFamily="34" charset="0"/>
              </a:rPr>
              <a:t>State Machine Control Logic</a:t>
            </a:r>
          </a:p>
          <a:p>
            <a:pPr lvl="0" eaLnBrk="0" fontAlgn="base" hangingPunct="0">
              <a:spcBef>
                <a:spcPct val="0"/>
              </a:spcBef>
              <a:spcAft>
                <a:spcPct val="0"/>
              </a:spcAft>
              <a:buFontTx/>
              <a:buChar char="•"/>
            </a:pPr>
            <a:r>
              <a:rPr lang="vi-VN" altLang="en-US" sz="4400" dirty="0">
                <a:latin typeface="Arial" panose="020B0604020202020204" pitchFamily="34" charset="0"/>
              </a:rPr>
              <a:t> </a:t>
            </a:r>
            <a:r>
              <a:rPr lang="en-US" altLang="en-US" sz="4400" dirty="0" err="1">
                <a:latin typeface="Arial" panose="020B0604020202020204" pitchFamily="34" charset="0"/>
              </a:rPr>
              <a:t>Kiểm</a:t>
            </a:r>
            <a:r>
              <a:rPr lang="en-US" altLang="en-US" sz="4400" dirty="0">
                <a:latin typeface="Arial" panose="020B0604020202020204" pitchFamily="34" charset="0"/>
              </a:rPr>
              <a:t> </a:t>
            </a:r>
            <a:r>
              <a:rPr lang="en-US" altLang="en-US" sz="4400" dirty="0" err="1">
                <a:latin typeface="Arial" panose="020B0604020202020204" pitchFamily="34" charset="0"/>
              </a:rPr>
              <a:t>thử</a:t>
            </a:r>
            <a:r>
              <a:rPr lang="en-US" altLang="en-US" sz="4400" dirty="0">
                <a:latin typeface="Arial" panose="020B0604020202020204" pitchFamily="34" charset="0"/>
              </a:rPr>
              <a:t> LED, Button </a:t>
            </a:r>
            <a:r>
              <a:rPr lang="en-US" altLang="en-US" sz="4400" dirty="0" err="1">
                <a:latin typeface="Arial" panose="020B0604020202020204" pitchFamily="34" charset="0"/>
              </a:rPr>
              <a:t>và</a:t>
            </a:r>
            <a:r>
              <a:rPr lang="en-US" altLang="en-US" sz="4400" dirty="0">
                <a:latin typeface="Arial" panose="020B0604020202020204" pitchFamily="34" charset="0"/>
              </a:rPr>
              <a:t> Buzzer</a:t>
            </a:r>
          </a:p>
        </p:txBody>
      </p:sp>
      <p:sp>
        <p:nvSpPr>
          <p:cNvPr id="8" name="Freeform 2">
            <a:extLst>
              <a:ext uri="{FF2B5EF4-FFF2-40B4-BE49-F238E27FC236}">
                <a16:creationId xmlns:a16="http://schemas.microsoft.com/office/drawing/2014/main" id="{80803FDF-B7F7-E4DC-2B2F-4090B62A8763}"/>
              </a:ext>
            </a:extLst>
          </p:cNvPr>
          <p:cNvSpPr/>
          <p:nvPr/>
        </p:nvSpPr>
        <p:spPr>
          <a:xfrm rot="-2415644">
            <a:off x="6377193" y="4525148"/>
            <a:ext cx="15465517" cy="5595705"/>
          </a:xfrm>
          <a:custGeom>
            <a:avLst/>
            <a:gdLst/>
            <a:ahLst/>
            <a:cxnLst/>
            <a:rect l="l" t="t" r="r" b="b"/>
            <a:pathLst>
              <a:path w="15465517" h="5595705">
                <a:moveTo>
                  <a:pt x="0" y="0"/>
                </a:moveTo>
                <a:lnTo>
                  <a:pt x="15465517" y="0"/>
                </a:lnTo>
                <a:lnTo>
                  <a:pt x="15465517" y="5595705"/>
                </a:lnTo>
                <a:lnTo>
                  <a:pt x="0" y="55957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2">
            <a:extLst>
              <a:ext uri="{FF2B5EF4-FFF2-40B4-BE49-F238E27FC236}">
                <a16:creationId xmlns:a16="http://schemas.microsoft.com/office/drawing/2014/main" id="{8F52362B-23A5-4D44-9BB0-E29B67EDA8B5}"/>
              </a:ext>
            </a:extLst>
          </p:cNvPr>
          <p:cNvSpPr/>
          <p:nvPr/>
        </p:nvSpPr>
        <p:spPr>
          <a:xfrm rot="-2415644">
            <a:off x="-7517109" y="-46852"/>
            <a:ext cx="15465517" cy="5595705"/>
          </a:xfrm>
          <a:custGeom>
            <a:avLst/>
            <a:gdLst/>
            <a:ahLst/>
            <a:cxnLst/>
            <a:rect l="l" t="t" r="r" b="b"/>
            <a:pathLst>
              <a:path w="15465517" h="5595705">
                <a:moveTo>
                  <a:pt x="0" y="0"/>
                </a:moveTo>
                <a:lnTo>
                  <a:pt x="15465517" y="0"/>
                </a:lnTo>
                <a:lnTo>
                  <a:pt x="15465517" y="5595705"/>
                </a:lnTo>
                <a:lnTo>
                  <a:pt x="0" y="559570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92A51-B025-DBE1-6CC3-54E77470F79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9C2D78-FD09-7B97-85C0-8DC1363836DF}"/>
              </a:ext>
            </a:extLst>
          </p:cNvPr>
          <p:cNvGrpSpPr>
            <a:grpSpLocks noChangeAspect="1"/>
          </p:cNvGrpSpPr>
          <p:nvPr/>
        </p:nvGrpSpPr>
        <p:grpSpPr>
          <a:xfrm>
            <a:off x="-1381684" y="2204445"/>
            <a:ext cx="10148426" cy="10148426"/>
            <a:chOff x="0" y="0"/>
            <a:chExt cx="6350000" cy="6350000"/>
          </a:xfrm>
        </p:grpSpPr>
        <p:sp>
          <p:nvSpPr>
            <p:cNvPr id="3" name="Freeform 3">
              <a:extLst>
                <a:ext uri="{FF2B5EF4-FFF2-40B4-BE49-F238E27FC236}">
                  <a16:creationId xmlns:a16="http://schemas.microsoft.com/office/drawing/2014/main" id="{27E4C864-0BA4-4399-773C-4532D1D0A60E}"/>
                </a:ext>
              </a:extLst>
            </p:cNvPr>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3"/>
              <a:stretch>
                <a:fillRect l="-30604" r="-19489"/>
              </a:stretch>
            </a:blipFill>
          </p:spPr>
        </p:sp>
      </p:grpSp>
      <p:sp>
        <p:nvSpPr>
          <p:cNvPr id="11" name="TextBox 10">
            <a:extLst>
              <a:ext uri="{FF2B5EF4-FFF2-40B4-BE49-F238E27FC236}">
                <a16:creationId xmlns:a16="http://schemas.microsoft.com/office/drawing/2014/main" id="{A052CCCE-B74C-8AD0-C5BF-87454CA92020}"/>
              </a:ext>
            </a:extLst>
          </p:cNvPr>
          <p:cNvSpPr txBox="1"/>
          <p:nvPr/>
        </p:nvSpPr>
        <p:spPr>
          <a:xfrm>
            <a:off x="9144000" y="2215506"/>
            <a:ext cx="8991600" cy="1015663"/>
          </a:xfrm>
          <a:prstGeom prst="rect">
            <a:avLst/>
          </a:prstGeom>
          <a:noFill/>
        </p:spPr>
        <p:txBody>
          <a:bodyPr wrap="square" rtlCol="0">
            <a:spAutoFit/>
          </a:bodyPr>
          <a:lstStyle/>
          <a:p>
            <a:r>
              <a:rPr lang="vi-VN" sz="6000" dirty="0">
                <a:solidFill>
                  <a:schemeClr val="tx2"/>
                </a:solidFill>
                <a:latin typeface="Asap" panose="020B0604020202020204" charset="0"/>
              </a:rPr>
              <a:t>MỤC TIÊU KIỂM THỬ</a:t>
            </a:r>
            <a:endParaRPr lang="en-US" sz="6000" dirty="0">
              <a:solidFill>
                <a:schemeClr val="tx2"/>
              </a:solidFill>
              <a:latin typeface="Asap" panose="020B0604020202020204" charset="0"/>
            </a:endParaRPr>
          </a:p>
        </p:txBody>
      </p:sp>
      <p:sp>
        <p:nvSpPr>
          <p:cNvPr id="12" name="TextBox 11">
            <a:extLst>
              <a:ext uri="{FF2B5EF4-FFF2-40B4-BE49-F238E27FC236}">
                <a16:creationId xmlns:a16="http://schemas.microsoft.com/office/drawing/2014/main" id="{510D404E-856F-E645-3C93-9D2DB70D97F4}"/>
              </a:ext>
            </a:extLst>
          </p:cNvPr>
          <p:cNvSpPr txBox="1"/>
          <p:nvPr/>
        </p:nvSpPr>
        <p:spPr>
          <a:xfrm>
            <a:off x="9144000" y="3522889"/>
            <a:ext cx="8991600" cy="5016758"/>
          </a:xfrm>
          <a:prstGeom prst="rect">
            <a:avLst/>
          </a:prstGeom>
          <a:noFill/>
        </p:spPr>
        <p:txBody>
          <a:bodyPr wrap="square" rtlCol="0">
            <a:spAutoFit/>
          </a:bodyPr>
          <a:lstStyle/>
          <a:p>
            <a:pPr lvl="0" eaLnBrk="0" fontAlgn="base" hangingPunct="0">
              <a:spcBef>
                <a:spcPct val="0"/>
              </a:spcBef>
              <a:spcAft>
                <a:spcPct val="0"/>
              </a:spcAft>
              <a:buFontTx/>
              <a:buChar char="•"/>
            </a:pPr>
            <a:r>
              <a:rPr lang="vi-VN" altLang="en-US" sz="3200" dirty="0">
                <a:latin typeface="Arial" panose="020B0604020202020204" pitchFamily="34" charset="0"/>
              </a:rPr>
              <a:t> </a:t>
            </a:r>
            <a:r>
              <a:rPr lang="en-US" altLang="en-US" sz="3200" dirty="0" err="1">
                <a:latin typeface="Arial" panose="020B0604020202020204" pitchFamily="34" charset="0"/>
              </a:rPr>
              <a:t>Đánh</a:t>
            </a:r>
            <a:r>
              <a:rPr lang="en-US" altLang="en-US" sz="3200" dirty="0">
                <a:latin typeface="Arial" panose="020B0604020202020204" pitchFamily="34" charset="0"/>
              </a:rPr>
              <a:t> </a:t>
            </a:r>
            <a:r>
              <a:rPr lang="en-US" altLang="en-US" sz="3200" dirty="0" err="1">
                <a:latin typeface="Arial" panose="020B0604020202020204" pitchFamily="34" charset="0"/>
              </a:rPr>
              <a:t>giá</a:t>
            </a:r>
            <a:r>
              <a:rPr lang="en-US" altLang="en-US" sz="3200" dirty="0">
                <a:latin typeface="Arial" panose="020B0604020202020204" pitchFamily="34" charset="0"/>
              </a:rPr>
              <a:t> </a:t>
            </a:r>
            <a:r>
              <a:rPr lang="en-US" altLang="en-US" sz="3200" dirty="0" err="1">
                <a:latin typeface="Arial" panose="020B0604020202020204" pitchFamily="34" charset="0"/>
              </a:rPr>
              <a:t>tính</a:t>
            </a:r>
            <a:r>
              <a:rPr lang="en-US" altLang="en-US" sz="3200" dirty="0">
                <a:latin typeface="Arial" panose="020B0604020202020204" pitchFamily="34" charset="0"/>
              </a:rPr>
              <a:t> </a:t>
            </a:r>
            <a:r>
              <a:rPr lang="en-US" altLang="en-US" sz="3200" dirty="0" err="1">
                <a:latin typeface="Arial" panose="020B0604020202020204" pitchFamily="34" charset="0"/>
              </a:rPr>
              <a:t>ổn</a:t>
            </a:r>
            <a:r>
              <a:rPr lang="en-US" altLang="en-US" sz="3200" dirty="0">
                <a:latin typeface="Arial" panose="020B0604020202020204" pitchFamily="34" charset="0"/>
              </a:rPr>
              <a:t> </a:t>
            </a:r>
            <a:r>
              <a:rPr lang="en-US" altLang="en-US" sz="3200" dirty="0" err="1">
                <a:latin typeface="Arial" panose="020B0604020202020204" pitchFamily="34" charset="0"/>
              </a:rPr>
              <a:t>định</a:t>
            </a:r>
            <a:r>
              <a:rPr lang="en-US" altLang="en-US" sz="3200" dirty="0">
                <a:latin typeface="Arial" panose="020B0604020202020204" pitchFamily="34" charset="0"/>
              </a:rPr>
              <a:t> </a:t>
            </a:r>
            <a:r>
              <a:rPr lang="en-US" altLang="en-US" sz="3200" dirty="0" err="1">
                <a:latin typeface="Arial" panose="020B0604020202020204" pitchFamily="34" charset="0"/>
              </a:rPr>
              <a:t>của</a:t>
            </a:r>
            <a:r>
              <a:rPr lang="en-US" altLang="en-US" sz="3200" dirty="0">
                <a:latin typeface="Arial" panose="020B0604020202020204" pitchFamily="34" charset="0"/>
              </a:rPr>
              <a:t> </a:t>
            </a:r>
            <a:r>
              <a:rPr lang="en-US" altLang="en-US" sz="3200" dirty="0" err="1">
                <a:latin typeface="Arial" panose="020B0604020202020204" pitchFamily="34" charset="0"/>
              </a:rPr>
              <a:t>hệ</a:t>
            </a:r>
            <a:r>
              <a:rPr lang="en-US" altLang="en-US" sz="3200" dirty="0">
                <a:latin typeface="Arial" panose="020B0604020202020204" pitchFamily="34" charset="0"/>
              </a:rPr>
              <a:t> </a:t>
            </a:r>
            <a:r>
              <a:rPr lang="en-US" altLang="en-US" sz="3200" dirty="0" err="1">
                <a:latin typeface="Arial" panose="020B0604020202020204" pitchFamily="34" charset="0"/>
              </a:rPr>
              <a:t>thống</a:t>
            </a:r>
            <a:r>
              <a:rPr lang="en-US" altLang="en-US" sz="3200" dirty="0">
                <a:latin typeface="Arial" panose="020B0604020202020204" pitchFamily="34" charset="0"/>
              </a:rPr>
              <a:t> </a:t>
            </a:r>
            <a:r>
              <a:rPr lang="en-US" altLang="en-US" sz="3200" dirty="0" err="1">
                <a:latin typeface="Arial" panose="020B0604020202020204" pitchFamily="34" charset="0"/>
              </a:rPr>
              <a:t>thời</a:t>
            </a:r>
            <a:r>
              <a:rPr lang="en-US" altLang="en-US" sz="3200" dirty="0">
                <a:latin typeface="Arial" panose="020B0604020202020204" pitchFamily="34" charset="0"/>
              </a:rPr>
              <a:t> </a:t>
            </a:r>
            <a:r>
              <a:rPr lang="en-US" altLang="en-US" sz="3200" dirty="0" err="1">
                <a:latin typeface="Arial" panose="020B0604020202020204" pitchFamily="34" charset="0"/>
              </a:rPr>
              <a:t>gian</a:t>
            </a:r>
            <a:r>
              <a:rPr lang="en-US" altLang="en-US" sz="3200" dirty="0">
                <a:latin typeface="Arial" panose="020B0604020202020204" pitchFamily="34" charset="0"/>
              </a:rPr>
              <a:t> </a:t>
            </a:r>
            <a:r>
              <a:rPr lang="en-US" altLang="en-US" sz="3200" dirty="0" err="1">
                <a:latin typeface="Arial" panose="020B0604020202020204" pitchFamily="34" charset="0"/>
              </a:rPr>
              <a:t>thực</a:t>
            </a:r>
            <a:endParaRPr lang="en-US" altLang="en-US" sz="3200" dirty="0">
              <a:latin typeface="Arial" panose="020B0604020202020204" pitchFamily="34" charset="0"/>
            </a:endParaRPr>
          </a:p>
          <a:p>
            <a:pPr lvl="0" eaLnBrk="0" fontAlgn="base" hangingPunct="0">
              <a:spcBef>
                <a:spcPct val="0"/>
              </a:spcBef>
              <a:spcAft>
                <a:spcPct val="0"/>
              </a:spcAft>
              <a:buFontTx/>
              <a:buChar char="•"/>
            </a:pPr>
            <a:r>
              <a:rPr lang="vi-VN" altLang="en-US" sz="3200" dirty="0">
                <a:latin typeface="Arial" panose="020B0604020202020204" pitchFamily="34" charset="0"/>
              </a:rPr>
              <a:t> </a:t>
            </a:r>
            <a:r>
              <a:rPr lang="en-US" altLang="en-US" sz="3200" dirty="0" err="1">
                <a:latin typeface="Arial" panose="020B0604020202020204" pitchFamily="34" charset="0"/>
              </a:rPr>
              <a:t>Kiểm</a:t>
            </a:r>
            <a:r>
              <a:rPr lang="en-US" altLang="en-US" sz="3200" dirty="0">
                <a:latin typeface="Arial" panose="020B0604020202020204" pitchFamily="34" charset="0"/>
              </a:rPr>
              <a:t> </a:t>
            </a:r>
            <a:r>
              <a:rPr lang="en-US" altLang="en-US" sz="3200" dirty="0" err="1">
                <a:latin typeface="Arial" panose="020B0604020202020204" pitchFamily="34" charset="0"/>
              </a:rPr>
              <a:t>tra</a:t>
            </a:r>
            <a:r>
              <a:rPr lang="en-US" altLang="en-US" sz="3200" dirty="0">
                <a:latin typeface="Arial" panose="020B0604020202020204" pitchFamily="34" charset="0"/>
              </a:rPr>
              <a:t> chu </a:t>
            </a:r>
            <a:r>
              <a:rPr lang="en-US" altLang="en-US" sz="3200" dirty="0" err="1">
                <a:latin typeface="Arial" panose="020B0604020202020204" pitchFamily="34" charset="0"/>
              </a:rPr>
              <a:t>kỳ</a:t>
            </a:r>
            <a:r>
              <a:rPr lang="en-US" altLang="en-US" sz="3200" dirty="0">
                <a:latin typeface="Arial" panose="020B0604020202020204" pitchFamily="34" charset="0"/>
              </a:rPr>
              <a:t> </a:t>
            </a:r>
            <a:r>
              <a:rPr lang="en-US" altLang="en-US" sz="3200" dirty="0" err="1">
                <a:latin typeface="Arial" panose="020B0604020202020204" pitchFamily="34" charset="0"/>
              </a:rPr>
              <a:t>chuyển</a:t>
            </a:r>
            <a:r>
              <a:rPr lang="en-US" altLang="en-US" sz="3200" dirty="0">
                <a:latin typeface="Arial" panose="020B0604020202020204" pitchFamily="34" charset="0"/>
              </a:rPr>
              <a:t> </a:t>
            </a:r>
            <a:r>
              <a:rPr lang="en-US" altLang="en-US" sz="3200" dirty="0" err="1">
                <a:latin typeface="Arial" panose="020B0604020202020204" pitchFamily="34" charset="0"/>
              </a:rPr>
              <a:t>trạng</a:t>
            </a:r>
            <a:r>
              <a:rPr lang="en-US" altLang="en-US" sz="3200" dirty="0">
                <a:latin typeface="Arial" panose="020B0604020202020204" pitchFamily="34" charset="0"/>
              </a:rPr>
              <a:t> </a:t>
            </a:r>
            <a:r>
              <a:rPr lang="en-US" altLang="en-US" sz="3200" dirty="0" err="1">
                <a:latin typeface="Arial" panose="020B0604020202020204" pitchFamily="34" charset="0"/>
              </a:rPr>
              <a:t>thái</a:t>
            </a:r>
            <a:r>
              <a:rPr lang="en-US" altLang="en-US" sz="3200" dirty="0">
                <a:latin typeface="Arial" panose="020B0604020202020204" pitchFamily="34" charset="0"/>
              </a:rPr>
              <a:t> </a:t>
            </a:r>
            <a:r>
              <a:rPr lang="en-US" altLang="en-US" sz="3200" dirty="0" err="1">
                <a:latin typeface="Arial" panose="020B0604020202020204" pitchFamily="34" charset="0"/>
              </a:rPr>
              <a:t>đèn</a:t>
            </a:r>
            <a:r>
              <a:rPr lang="en-US" altLang="en-US" sz="3200" dirty="0">
                <a:latin typeface="Arial" panose="020B0604020202020204" pitchFamily="34" charset="0"/>
              </a:rPr>
              <a:t> </a:t>
            </a:r>
            <a:r>
              <a:rPr lang="en-US" altLang="en-US" sz="3200" dirty="0" err="1">
                <a:latin typeface="Arial" panose="020B0604020202020204" pitchFamily="34" charset="0"/>
              </a:rPr>
              <a:t>giao</a:t>
            </a:r>
            <a:r>
              <a:rPr lang="en-US" altLang="en-US" sz="3200" dirty="0">
                <a:latin typeface="Arial" panose="020B0604020202020204" pitchFamily="34" charset="0"/>
              </a:rPr>
              <a:t> </a:t>
            </a:r>
            <a:r>
              <a:rPr lang="en-US" altLang="en-US" sz="3200" dirty="0" err="1">
                <a:latin typeface="Arial" panose="020B0604020202020204" pitchFamily="34" charset="0"/>
              </a:rPr>
              <a:t>thông</a:t>
            </a:r>
            <a:endParaRPr lang="en-US" altLang="en-US" sz="3200" dirty="0">
              <a:latin typeface="Arial" panose="020B0604020202020204" pitchFamily="34" charset="0"/>
            </a:endParaRPr>
          </a:p>
          <a:p>
            <a:pPr lvl="0" eaLnBrk="0" fontAlgn="base" hangingPunct="0">
              <a:spcBef>
                <a:spcPct val="0"/>
              </a:spcBef>
              <a:spcAft>
                <a:spcPct val="0"/>
              </a:spcAft>
              <a:buFontTx/>
              <a:buChar char="•"/>
            </a:pPr>
            <a:r>
              <a:rPr lang="vi-VN" altLang="en-US" sz="3200" dirty="0">
                <a:latin typeface="Arial" panose="020B0604020202020204" pitchFamily="34" charset="0"/>
              </a:rPr>
              <a:t> </a:t>
            </a:r>
            <a:r>
              <a:rPr lang="en-US" altLang="en-US" sz="3200" dirty="0" err="1">
                <a:latin typeface="Arial" panose="020B0604020202020204" pitchFamily="34" charset="0"/>
              </a:rPr>
              <a:t>Kiểm</a:t>
            </a:r>
            <a:r>
              <a:rPr lang="en-US" altLang="en-US" sz="3200" dirty="0">
                <a:latin typeface="Arial" panose="020B0604020202020204" pitchFamily="34" charset="0"/>
              </a:rPr>
              <a:t> </a:t>
            </a:r>
            <a:r>
              <a:rPr lang="en-US" altLang="en-US" sz="3200" dirty="0" err="1">
                <a:latin typeface="Arial" panose="020B0604020202020204" pitchFamily="34" charset="0"/>
              </a:rPr>
              <a:t>thử</a:t>
            </a:r>
            <a:r>
              <a:rPr lang="en-US" altLang="en-US" sz="3200" dirty="0">
                <a:latin typeface="Arial" panose="020B0604020202020204" pitchFamily="34" charset="0"/>
              </a:rPr>
              <a:t> </a:t>
            </a:r>
            <a:r>
              <a:rPr lang="en-US" altLang="en-US" sz="3200" dirty="0" err="1">
                <a:latin typeface="Arial" panose="020B0604020202020204" pitchFamily="34" charset="0"/>
              </a:rPr>
              <a:t>phản</a:t>
            </a:r>
            <a:r>
              <a:rPr lang="en-US" altLang="en-US" sz="3200" dirty="0">
                <a:latin typeface="Arial" panose="020B0604020202020204" pitchFamily="34" charset="0"/>
              </a:rPr>
              <a:t> </a:t>
            </a:r>
            <a:r>
              <a:rPr lang="en-US" altLang="en-US" sz="3200" dirty="0" err="1">
                <a:latin typeface="Arial" panose="020B0604020202020204" pitchFamily="34" charset="0"/>
              </a:rPr>
              <a:t>hồi</a:t>
            </a:r>
            <a:r>
              <a:rPr lang="en-US" altLang="en-US" sz="3200" dirty="0">
                <a:latin typeface="Arial" panose="020B0604020202020204" pitchFamily="34" charset="0"/>
              </a:rPr>
              <a:t> </a:t>
            </a:r>
            <a:r>
              <a:rPr lang="en-US" altLang="en-US" sz="3200" dirty="0" err="1">
                <a:latin typeface="Arial" panose="020B0604020202020204" pitchFamily="34" charset="0"/>
              </a:rPr>
              <a:t>của</a:t>
            </a:r>
            <a:r>
              <a:rPr lang="en-US" altLang="en-US" sz="3200" dirty="0">
                <a:latin typeface="Arial" panose="020B0604020202020204" pitchFamily="34" charset="0"/>
              </a:rPr>
              <a:t> </a:t>
            </a:r>
            <a:r>
              <a:rPr lang="en-US" altLang="en-US" sz="3200" dirty="0" err="1">
                <a:latin typeface="Arial" panose="020B0604020202020204" pitchFamily="34" charset="0"/>
              </a:rPr>
              <a:t>nút</a:t>
            </a:r>
            <a:r>
              <a:rPr lang="en-US" altLang="en-US" sz="3200" dirty="0">
                <a:latin typeface="Arial" panose="020B0604020202020204" pitchFamily="34" charset="0"/>
              </a:rPr>
              <a:t> </a:t>
            </a:r>
            <a:r>
              <a:rPr lang="en-US" altLang="en-US" sz="3200" dirty="0" err="1">
                <a:latin typeface="Arial" panose="020B0604020202020204" pitchFamily="34" charset="0"/>
              </a:rPr>
              <a:t>nhấn</a:t>
            </a:r>
            <a:r>
              <a:rPr lang="en-US" altLang="en-US" sz="3200" dirty="0">
                <a:latin typeface="Arial" panose="020B0604020202020204" pitchFamily="34" charset="0"/>
              </a:rPr>
              <a:t> pedestrian</a:t>
            </a:r>
          </a:p>
          <a:p>
            <a:pPr lvl="0" eaLnBrk="0" fontAlgn="base" hangingPunct="0">
              <a:spcBef>
                <a:spcPct val="0"/>
              </a:spcBef>
              <a:spcAft>
                <a:spcPct val="0"/>
              </a:spcAft>
              <a:buFontTx/>
              <a:buChar char="•"/>
            </a:pPr>
            <a:r>
              <a:rPr lang="vi-VN" altLang="en-US" sz="3200" dirty="0">
                <a:latin typeface="Arial" panose="020B0604020202020204" pitchFamily="34" charset="0"/>
              </a:rPr>
              <a:t> </a:t>
            </a:r>
            <a:r>
              <a:rPr lang="en-US" altLang="en-US" sz="3200" dirty="0" err="1">
                <a:latin typeface="Arial" panose="020B0604020202020204" pitchFamily="34" charset="0"/>
              </a:rPr>
              <a:t>Kiểm</a:t>
            </a:r>
            <a:r>
              <a:rPr lang="en-US" altLang="en-US" sz="3200" dirty="0">
                <a:latin typeface="Arial" panose="020B0604020202020204" pitchFamily="34" charset="0"/>
              </a:rPr>
              <a:t> </a:t>
            </a:r>
            <a:r>
              <a:rPr lang="en-US" altLang="en-US" sz="3200" dirty="0" err="1">
                <a:latin typeface="Arial" panose="020B0604020202020204" pitchFamily="34" charset="0"/>
              </a:rPr>
              <a:t>tra</a:t>
            </a:r>
            <a:r>
              <a:rPr lang="en-US" altLang="en-US" sz="3200" dirty="0">
                <a:latin typeface="Arial" panose="020B0604020202020204" pitchFamily="34" charset="0"/>
              </a:rPr>
              <a:t> </a:t>
            </a:r>
            <a:r>
              <a:rPr lang="en-US" altLang="en-US" sz="3200" dirty="0" err="1">
                <a:latin typeface="Arial" panose="020B0604020202020204" pitchFamily="34" charset="0"/>
              </a:rPr>
              <a:t>sự</a:t>
            </a:r>
            <a:r>
              <a:rPr lang="en-US" altLang="en-US" sz="3200" dirty="0">
                <a:latin typeface="Arial" panose="020B0604020202020204" pitchFamily="34" charset="0"/>
              </a:rPr>
              <a:t> </a:t>
            </a:r>
            <a:r>
              <a:rPr lang="en-US" altLang="en-US" sz="3200" dirty="0" err="1">
                <a:latin typeface="Arial" panose="020B0604020202020204" pitchFamily="34" charset="0"/>
              </a:rPr>
              <a:t>đồng</a:t>
            </a:r>
            <a:r>
              <a:rPr lang="en-US" altLang="en-US" sz="3200" dirty="0">
                <a:latin typeface="Arial" panose="020B0604020202020204" pitchFamily="34" charset="0"/>
              </a:rPr>
              <a:t> </a:t>
            </a:r>
            <a:r>
              <a:rPr lang="en-US" altLang="en-US" sz="3200" dirty="0" err="1">
                <a:latin typeface="Arial" panose="020B0604020202020204" pitchFamily="34" charset="0"/>
              </a:rPr>
              <a:t>bộ</a:t>
            </a:r>
            <a:r>
              <a:rPr lang="en-US" altLang="en-US" sz="3200" dirty="0">
                <a:latin typeface="Arial" panose="020B0604020202020204" pitchFamily="34" charset="0"/>
              </a:rPr>
              <a:t> </a:t>
            </a:r>
            <a:r>
              <a:rPr lang="en-US" altLang="en-US" sz="3200" dirty="0" err="1">
                <a:latin typeface="Arial" panose="020B0604020202020204" pitchFamily="34" charset="0"/>
              </a:rPr>
              <a:t>giữa</a:t>
            </a:r>
            <a:r>
              <a:rPr lang="en-US" altLang="en-US" sz="3200" dirty="0">
                <a:latin typeface="Arial" panose="020B0604020202020204" pitchFamily="34" charset="0"/>
              </a:rPr>
              <a:t> </a:t>
            </a:r>
            <a:r>
              <a:rPr lang="en-US" altLang="en-US" sz="3200" dirty="0" err="1">
                <a:latin typeface="Arial" panose="020B0604020202020204" pitchFamily="34" charset="0"/>
              </a:rPr>
              <a:t>đèn</a:t>
            </a:r>
            <a:r>
              <a:rPr lang="en-US" altLang="en-US" sz="3200" dirty="0">
                <a:latin typeface="Arial" panose="020B0604020202020204" pitchFamily="34" charset="0"/>
              </a:rPr>
              <a:t> </a:t>
            </a:r>
            <a:r>
              <a:rPr lang="en-US" altLang="en-US" sz="3200" dirty="0" err="1">
                <a:latin typeface="Arial" panose="020B0604020202020204" pitchFamily="34" charset="0"/>
              </a:rPr>
              <a:t>giao</a:t>
            </a:r>
            <a:r>
              <a:rPr lang="en-US" altLang="en-US" sz="3200" dirty="0">
                <a:latin typeface="Arial" panose="020B0604020202020204" pitchFamily="34" charset="0"/>
              </a:rPr>
              <a:t> </a:t>
            </a:r>
            <a:r>
              <a:rPr lang="en-US" altLang="en-US" sz="3200" dirty="0" err="1">
                <a:latin typeface="Arial" panose="020B0604020202020204" pitchFamily="34" charset="0"/>
              </a:rPr>
              <a:t>thông</a:t>
            </a:r>
            <a:r>
              <a:rPr lang="en-US" altLang="en-US" sz="3200" dirty="0">
                <a:latin typeface="Arial" panose="020B0604020202020204" pitchFamily="34" charset="0"/>
              </a:rPr>
              <a:t> </a:t>
            </a:r>
            <a:r>
              <a:rPr lang="en-US" altLang="en-US" sz="3200" dirty="0" err="1">
                <a:latin typeface="Arial" panose="020B0604020202020204" pitchFamily="34" charset="0"/>
              </a:rPr>
              <a:t>và</a:t>
            </a:r>
            <a:r>
              <a:rPr lang="en-US" altLang="en-US" sz="3200" dirty="0">
                <a:latin typeface="Arial" panose="020B0604020202020204" pitchFamily="34" charset="0"/>
              </a:rPr>
              <a:t> </a:t>
            </a:r>
            <a:r>
              <a:rPr lang="en-US" altLang="en-US" sz="3200" dirty="0" err="1">
                <a:latin typeface="Arial" panose="020B0604020202020204" pitchFamily="34" charset="0"/>
              </a:rPr>
              <a:t>tín</a:t>
            </a:r>
            <a:r>
              <a:rPr lang="en-US" altLang="en-US" sz="3200" dirty="0">
                <a:latin typeface="Arial" panose="020B0604020202020204" pitchFamily="34" charset="0"/>
              </a:rPr>
              <a:t> </a:t>
            </a:r>
            <a:r>
              <a:rPr lang="en-US" altLang="en-US" sz="3200" dirty="0" err="1">
                <a:latin typeface="Arial" panose="020B0604020202020204" pitchFamily="34" charset="0"/>
              </a:rPr>
              <a:t>hiệu</a:t>
            </a:r>
            <a:r>
              <a:rPr lang="en-US" altLang="en-US" sz="3200" dirty="0">
                <a:latin typeface="Arial" panose="020B0604020202020204" pitchFamily="34" charset="0"/>
              </a:rPr>
              <a:t> pedestrian</a:t>
            </a:r>
          </a:p>
          <a:p>
            <a:pPr lvl="0" eaLnBrk="0" fontAlgn="base" hangingPunct="0">
              <a:spcBef>
                <a:spcPct val="0"/>
              </a:spcBef>
              <a:spcAft>
                <a:spcPct val="0"/>
              </a:spcAft>
              <a:buFontTx/>
              <a:buChar char="•"/>
            </a:pPr>
            <a:r>
              <a:rPr lang="vi-VN" altLang="en-US" sz="3200" dirty="0">
                <a:latin typeface="Arial" panose="020B0604020202020204" pitchFamily="34" charset="0"/>
              </a:rPr>
              <a:t> </a:t>
            </a:r>
            <a:r>
              <a:rPr lang="en-US" altLang="en-US" sz="3200" dirty="0" err="1">
                <a:latin typeface="Arial" panose="020B0604020202020204" pitchFamily="34" charset="0"/>
              </a:rPr>
              <a:t>Kiểm</a:t>
            </a:r>
            <a:r>
              <a:rPr lang="en-US" altLang="en-US" sz="3200" dirty="0">
                <a:latin typeface="Arial" panose="020B0604020202020204" pitchFamily="34" charset="0"/>
              </a:rPr>
              <a:t> </a:t>
            </a:r>
            <a:r>
              <a:rPr lang="en-US" altLang="en-US" sz="3200" dirty="0" err="1">
                <a:latin typeface="Arial" panose="020B0604020202020204" pitchFamily="34" charset="0"/>
              </a:rPr>
              <a:t>tra</a:t>
            </a:r>
            <a:r>
              <a:rPr lang="en-US" altLang="en-US" sz="3200" dirty="0">
                <a:latin typeface="Arial" panose="020B0604020202020204" pitchFamily="34" charset="0"/>
              </a:rPr>
              <a:t> </a:t>
            </a:r>
            <a:r>
              <a:rPr lang="en-US" altLang="en-US" sz="3200" dirty="0" err="1">
                <a:latin typeface="Arial" panose="020B0604020202020204" pitchFamily="34" charset="0"/>
              </a:rPr>
              <a:t>hoạt</a:t>
            </a:r>
            <a:r>
              <a:rPr lang="en-US" altLang="en-US" sz="3200" dirty="0">
                <a:latin typeface="Arial" panose="020B0604020202020204" pitchFamily="34" charset="0"/>
              </a:rPr>
              <a:t> </a:t>
            </a:r>
            <a:r>
              <a:rPr lang="en-US" altLang="en-US" sz="3200" dirty="0" err="1">
                <a:latin typeface="Arial" panose="020B0604020202020204" pitchFamily="34" charset="0"/>
              </a:rPr>
              <a:t>động</a:t>
            </a:r>
            <a:r>
              <a:rPr lang="en-US" altLang="en-US" sz="3200" dirty="0">
                <a:latin typeface="Arial" panose="020B0604020202020204" pitchFamily="34" charset="0"/>
              </a:rPr>
              <a:t> </a:t>
            </a:r>
            <a:r>
              <a:rPr lang="en-US" altLang="en-US" sz="3200" dirty="0" err="1">
                <a:latin typeface="Arial" panose="020B0604020202020204" pitchFamily="34" charset="0"/>
              </a:rPr>
              <a:t>của</a:t>
            </a:r>
            <a:r>
              <a:rPr lang="en-US" altLang="en-US" sz="3200" dirty="0">
                <a:latin typeface="Arial" panose="020B0604020202020204" pitchFamily="34" charset="0"/>
              </a:rPr>
              <a:t> buzzer </a:t>
            </a:r>
            <a:r>
              <a:rPr lang="en-US" altLang="en-US" sz="3200" dirty="0" err="1">
                <a:latin typeface="Arial" panose="020B0604020202020204" pitchFamily="34" charset="0"/>
              </a:rPr>
              <a:t>khi</a:t>
            </a:r>
            <a:r>
              <a:rPr lang="en-US" altLang="en-US" sz="3200" dirty="0">
                <a:latin typeface="Arial" panose="020B0604020202020204" pitchFamily="34" charset="0"/>
              </a:rPr>
              <a:t> </a:t>
            </a:r>
            <a:r>
              <a:rPr lang="en-US" altLang="en-US" sz="3200" dirty="0" err="1">
                <a:latin typeface="Arial" panose="020B0604020202020204" pitchFamily="34" charset="0"/>
              </a:rPr>
              <a:t>người</a:t>
            </a:r>
            <a:r>
              <a:rPr lang="en-US" altLang="en-US" sz="3200" dirty="0">
                <a:latin typeface="Arial" panose="020B0604020202020204" pitchFamily="34" charset="0"/>
              </a:rPr>
              <a:t> </a:t>
            </a:r>
            <a:r>
              <a:rPr lang="en-US" altLang="en-US" sz="3200" dirty="0" err="1">
                <a:latin typeface="Arial" panose="020B0604020202020204" pitchFamily="34" charset="0"/>
              </a:rPr>
              <a:t>đi</a:t>
            </a:r>
            <a:r>
              <a:rPr lang="en-US" altLang="en-US" sz="3200" dirty="0">
                <a:latin typeface="Arial" panose="020B0604020202020204" pitchFamily="34" charset="0"/>
              </a:rPr>
              <a:t> </a:t>
            </a:r>
            <a:r>
              <a:rPr lang="en-US" altLang="en-US" sz="3200" dirty="0" err="1">
                <a:latin typeface="Arial" panose="020B0604020202020204" pitchFamily="34" charset="0"/>
              </a:rPr>
              <a:t>bộ</a:t>
            </a:r>
            <a:r>
              <a:rPr lang="en-US" altLang="en-US" sz="3200" dirty="0">
                <a:latin typeface="Arial" panose="020B0604020202020204" pitchFamily="34" charset="0"/>
              </a:rPr>
              <a:t> </a:t>
            </a:r>
            <a:r>
              <a:rPr lang="en-US" altLang="en-US" sz="3200" dirty="0" err="1">
                <a:latin typeface="Arial" panose="020B0604020202020204" pitchFamily="34" charset="0"/>
              </a:rPr>
              <a:t>được</a:t>
            </a:r>
            <a:r>
              <a:rPr lang="en-US" altLang="en-US" sz="3200" dirty="0">
                <a:latin typeface="Arial" panose="020B0604020202020204" pitchFamily="34" charset="0"/>
              </a:rPr>
              <a:t> </a:t>
            </a:r>
            <a:r>
              <a:rPr lang="en-US" altLang="en-US" sz="3200" dirty="0" err="1">
                <a:latin typeface="Arial" panose="020B0604020202020204" pitchFamily="34" charset="0"/>
              </a:rPr>
              <a:t>phép</a:t>
            </a:r>
            <a:r>
              <a:rPr lang="en-US" altLang="en-US" sz="3200" dirty="0">
                <a:latin typeface="Arial" panose="020B0604020202020204" pitchFamily="34" charset="0"/>
              </a:rPr>
              <a:t> qua </a:t>
            </a:r>
            <a:r>
              <a:rPr lang="en-US" altLang="en-US" sz="3200" dirty="0" err="1">
                <a:latin typeface="Arial" panose="020B0604020202020204" pitchFamily="34" charset="0"/>
              </a:rPr>
              <a:t>đường</a:t>
            </a:r>
            <a:endParaRPr lang="en-US" altLang="en-US" sz="3200" dirty="0">
              <a:latin typeface="Arial" panose="020B0604020202020204" pitchFamily="34" charset="0"/>
            </a:endParaRPr>
          </a:p>
          <a:p>
            <a:endParaRPr lang="vi-VN" sz="3200" dirty="0"/>
          </a:p>
        </p:txBody>
      </p:sp>
    </p:spTree>
    <p:extLst>
      <p:ext uri="{BB962C8B-B14F-4D97-AF65-F5344CB8AC3E}">
        <p14:creationId xmlns:p14="http://schemas.microsoft.com/office/powerpoint/2010/main" val="81154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415644">
            <a:off x="7062957" y="6658747"/>
            <a:ext cx="15465517" cy="5595705"/>
          </a:xfrm>
          <a:custGeom>
            <a:avLst/>
            <a:gdLst/>
            <a:ahLst/>
            <a:cxnLst/>
            <a:rect l="l" t="t" r="r" b="b"/>
            <a:pathLst>
              <a:path w="15465517" h="5595705">
                <a:moveTo>
                  <a:pt x="0" y="0"/>
                </a:moveTo>
                <a:lnTo>
                  <a:pt x="15465517" y="0"/>
                </a:lnTo>
                <a:lnTo>
                  <a:pt x="15465517"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694931" y="319849"/>
            <a:ext cx="11142039" cy="1077218"/>
          </a:xfrm>
          <a:prstGeom prst="rect">
            <a:avLst/>
          </a:prstGeom>
        </p:spPr>
        <p:txBody>
          <a:bodyPr wrap="square" lIns="0" tIns="0" rIns="0" bIns="0" rtlCol="0" anchor="t">
            <a:spAutoFit/>
          </a:bodyPr>
          <a:lstStyle/>
          <a:p>
            <a:pPr>
              <a:lnSpc>
                <a:spcPts val="8400"/>
              </a:lnSpc>
            </a:pPr>
            <a:r>
              <a:rPr lang="vi-VN" sz="7200" dirty="0"/>
              <a:t>MÔI TRƯỜNG KIỂM THỬ</a:t>
            </a:r>
            <a:endParaRPr lang="en-US" sz="7000" b="1" dirty="0">
              <a:solidFill>
                <a:srgbClr val="01003B"/>
              </a:solidFill>
              <a:latin typeface="Cabin Bold"/>
              <a:ea typeface="Cabin Bold"/>
              <a:cs typeface="Cabin Bold"/>
              <a:sym typeface="Cabin Bold"/>
            </a:endParaRPr>
          </a:p>
        </p:txBody>
      </p:sp>
      <p:grpSp>
        <p:nvGrpSpPr>
          <p:cNvPr id="14" name="Group 14"/>
          <p:cNvGrpSpPr/>
          <p:nvPr/>
        </p:nvGrpSpPr>
        <p:grpSpPr>
          <a:xfrm>
            <a:off x="13982407" y="8179781"/>
            <a:ext cx="3723158" cy="1509713"/>
            <a:chOff x="0" y="0"/>
            <a:chExt cx="5519363" cy="2238061"/>
          </a:xfrm>
        </p:grpSpPr>
        <p:sp>
          <p:nvSpPr>
            <p:cNvPr id="15" name="Freeform 15"/>
            <p:cNvSpPr/>
            <p:nvPr/>
          </p:nvSpPr>
          <p:spPr>
            <a:xfrm>
              <a:off x="0" y="0"/>
              <a:ext cx="5519363" cy="2238061"/>
            </a:xfrm>
            <a:custGeom>
              <a:avLst/>
              <a:gdLst/>
              <a:ahLst/>
              <a:cxnLst/>
              <a:rect l="l" t="t" r="r" b="b"/>
              <a:pathLst>
                <a:path w="5519363" h="2238061">
                  <a:moveTo>
                    <a:pt x="62382" y="0"/>
                  </a:moveTo>
                  <a:lnTo>
                    <a:pt x="5456981" y="0"/>
                  </a:lnTo>
                  <a:cubicBezTo>
                    <a:pt x="5491434" y="0"/>
                    <a:pt x="5519363" y="27929"/>
                    <a:pt x="5519363" y="62382"/>
                  </a:cubicBezTo>
                  <a:lnTo>
                    <a:pt x="5519363" y="2175679"/>
                  </a:lnTo>
                  <a:cubicBezTo>
                    <a:pt x="5519363" y="2210132"/>
                    <a:pt x="5491434" y="2238061"/>
                    <a:pt x="5456981" y="2238061"/>
                  </a:cubicBezTo>
                  <a:lnTo>
                    <a:pt x="62382" y="2238061"/>
                  </a:lnTo>
                  <a:cubicBezTo>
                    <a:pt x="27929" y="2238061"/>
                    <a:pt x="0" y="2210132"/>
                    <a:pt x="0" y="2175679"/>
                  </a:cubicBezTo>
                  <a:lnTo>
                    <a:pt x="0" y="62382"/>
                  </a:lnTo>
                  <a:cubicBezTo>
                    <a:pt x="0" y="27929"/>
                    <a:pt x="27929" y="0"/>
                    <a:pt x="62382" y="0"/>
                  </a:cubicBezTo>
                  <a:close/>
                </a:path>
              </a:pathLst>
            </a:custGeom>
            <a:solidFill>
              <a:srgbClr val="F8F8F8"/>
            </a:solidFill>
            <a:ln w="9525" cap="rnd">
              <a:solidFill>
                <a:srgbClr val="01003B"/>
              </a:solidFill>
              <a:prstDash val="solid"/>
              <a:round/>
            </a:ln>
          </p:spPr>
        </p:sp>
        <p:sp>
          <p:nvSpPr>
            <p:cNvPr id="16" name="TextBox 16"/>
            <p:cNvSpPr txBox="1"/>
            <p:nvPr/>
          </p:nvSpPr>
          <p:spPr>
            <a:xfrm>
              <a:off x="0" y="-38100"/>
              <a:ext cx="5519363" cy="2276161"/>
            </a:xfrm>
            <a:prstGeom prst="rect">
              <a:avLst/>
            </a:prstGeom>
          </p:spPr>
          <p:txBody>
            <a:bodyPr lIns="254000" tIns="254000" rIns="254000" bIns="254000" rtlCol="0" anchor="ctr"/>
            <a:lstStyle/>
            <a:p>
              <a:pPr algn="l">
                <a:lnSpc>
                  <a:spcPts val="2100"/>
                </a:lnSpc>
              </a:pPr>
              <a:r>
                <a:rPr lang="en-US" sz="1500">
                  <a:solidFill>
                    <a:srgbClr val="01003B"/>
                  </a:solidFill>
                  <a:latin typeface="Asap"/>
                  <a:ea typeface="Asap"/>
                  <a:cs typeface="Asap"/>
                  <a:sym typeface="Asap"/>
                </a:rPr>
                <a:t>Kéo và thả ảnh hoặc video của bạn! Nhấp vào ảnh hoặc video mẫu và xóa. Chọn mục của bạn từ tab Tải lên, kéo và sau đó thả vào khung!</a:t>
              </a:r>
            </a:p>
          </p:txBody>
        </p:sp>
      </p:grpSp>
      <p:sp>
        <p:nvSpPr>
          <p:cNvPr id="17" name="TextBox 7">
            <a:extLst>
              <a:ext uri="{FF2B5EF4-FFF2-40B4-BE49-F238E27FC236}">
                <a16:creationId xmlns:a16="http://schemas.microsoft.com/office/drawing/2014/main" id="{E1B37D82-6DE3-C6EF-C85D-37667534E325}"/>
              </a:ext>
            </a:extLst>
          </p:cNvPr>
          <p:cNvSpPr txBox="1"/>
          <p:nvPr/>
        </p:nvSpPr>
        <p:spPr>
          <a:xfrm>
            <a:off x="1371600" y="1669256"/>
            <a:ext cx="9317010" cy="8617744"/>
          </a:xfrm>
          <a:prstGeom prst="rect">
            <a:avLst/>
          </a:prstGeom>
        </p:spPr>
        <p:txBody>
          <a:bodyPr lIns="0" tIns="0" rIns="0" bIns="0" rtlCol="0" anchor="t">
            <a:spAutoFit/>
          </a:bodyPr>
          <a:lstStyle/>
          <a:p>
            <a:pPr marL="571500" indent="-571500">
              <a:buFont typeface="Arial" panose="020B0604020202020204" pitchFamily="34" charset="0"/>
              <a:buChar char="•"/>
            </a:pPr>
            <a:r>
              <a:rPr lang="en-US" sz="4000" b="1" dirty="0">
                <a:latin typeface="Arial" panose="020B0604020202020204" pitchFamily="34" charset="0"/>
                <a:cs typeface="Arial" panose="020B0604020202020204" pitchFamily="34" charset="0"/>
              </a:rPr>
              <a:t>Hardware Simulation</a:t>
            </a:r>
            <a:endParaRPr lang="en-US" sz="4000" dirty="0">
              <a:latin typeface="Arial" panose="020B0604020202020204" pitchFamily="34" charset="0"/>
              <a:cs typeface="Arial" panose="020B0604020202020204" pitchFamily="34" charset="0"/>
            </a:endParaRPr>
          </a:p>
          <a:p>
            <a:r>
              <a:rPr lang="en-US" sz="4000" dirty="0">
                <a:latin typeface="Arial" panose="020B0604020202020204" pitchFamily="34" charset="0"/>
                <a:cs typeface="Arial" panose="020B0604020202020204" pitchFamily="34" charset="0"/>
              </a:rPr>
              <a:t>ESP32 </a:t>
            </a:r>
            <a:r>
              <a:rPr lang="en-US" sz="4000" dirty="0" err="1">
                <a:latin typeface="Arial" panose="020B0604020202020204" pitchFamily="34" charset="0"/>
                <a:cs typeface="Arial" panose="020B0604020202020204" pitchFamily="34" charset="0"/>
              </a:rPr>
              <a:t>DevKit</a:t>
            </a:r>
            <a:endParaRPr lang="en-US" sz="4000" dirty="0">
              <a:latin typeface="Arial" panose="020B0604020202020204" pitchFamily="34" charset="0"/>
              <a:cs typeface="Arial" panose="020B0604020202020204" pitchFamily="34" charset="0"/>
            </a:endParaRPr>
          </a:p>
          <a:p>
            <a:r>
              <a:rPr lang="en-US" sz="4000" dirty="0">
                <a:latin typeface="Arial" panose="020B0604020202020204" pitchFamily="34" charset="0"/>
                <a:cs typeface="Arial" panose="020B0604020202020204" pitchFamily="34" charset="0"/>
              </a:rPr>
              <a:t>LED (Red, Green, Orange)</a:t>
            </a:r>
          </a:p>
          <a:p>
            <a:r>
              <a:rPr lang="en-US" sz="4000" dirty="0">
                <a:latin typeface="Arial" panose="020B0604020202020204" pitchFamily="34" charset="0"/>
                <a:cs typeface="Arial" panose="020B0604020202020204" pitchFamily="34" charset="0"/>
              </a:rPr>
              <a:t>Pedestrian LED (Red, Green)</a:t>
            </a:r>
          </a:p>
          <a:p>
            <a:r>
              <a:rPr lang="en-US" sz="4000" dirty="0">
                <a:latin typeface="Arial" panose="020B0604020202020204" pitchFamily="34" charset="0"/>
                <a:cs typeface="Arial" panose="020B0604020202020204" pitchFamily="34" charset="0"/>
              </a:rPr>
              <a:t>Push Button</a:t>
            </a:r>
          </a:p>
          <a:p>
            <a:r>
              <a:rPr lang="en-US" sz="4000" dirty="0">
                <a:latin typeface="Arial" panose="020B0604020202020204" pitchFamily="34" charset="0"/>
                <a:cs typeface="Arial" panose="020B0604020202020204" pitchFamily="34" charset="0"/>
              </a:rPr>
              <a:t>Buzzer</a:t>
            </a:r>
          </a:p>
          <a:p>
            <a:pPr marL="571500" indent="-571500">
              <a:buFont typeface="Arial" panose="020B0604020202020204" pitchFamily="34" charset="0"/>
              <a:buChar char="•"/>
            </a:pPr>
            <a:r>
              <a:rPr lang="en-US" sz="4000" b="1" dirty="0">
                <a:latin typeface="Arial" panose="020B0604020202020204" pitchFamily="34" charset="0"/>
                <a:cs typeface="Arial" panose="020B0604020202020204" pitchFamily="34" charset="0"/>
              </a:rPr>
              <a:t>Software Environment</a:t>
            </a:r>
            <a:endParaRPr lang="en-US" sz="4000" dirty="0">
              <a:latin typeface="Arial" panose="020B0604020202020204" pitchFamily="34" charset="0"/>
              <a:cs typeface="Arial" panose="020B0604020202020204" pitchFamily="34" charset="0"/>
            </a:endParaRPr>
          </a:p>
          <a:p>
            <a:r>
              <a:rPr lang="en-US" sz="4000" dirty="0" err="1">
                <a:latin typeface="Arial" panose="020B0604020202020204" pitchFamily="34" charset="0"/>
                <a:cs typeface="Arial" panose="020B0604020202020204" pitchFamily="34" charset="0"/>
              </a:rPr>
              <a:t>Wokwi</a:t>
            </a:r>
            <a:r>
              <a:rPr lang="en-US" sz="4000" dirty="0">
                <a:latin typeface="Arial" panose="020B0604020202020204" pitchFamily="34" charset="0"/>
                <a:cs typeface="Arial" panose="020B0604020202020204" pitchFamily="34" charset="0"/>
              </a:rPr>
              <a:t> Simulator</a:t>
            </a:r>
          </a:p>
          <a:p>
            <a:r>
              <a:rPr lang="en-US" sz="4000" dirty="0">
                <a:latin typeface="Arial" panose="020B0604020202020204" pitchFamily="34" charset="0"/>
                <a:cs typeface="Arial" panose="020B0604020202020204" pitchFamily="34" charset="0"/>
              </a:rPr>
              <a:t>Arduino Framework</a:t>
            </a:r>
          </a:p>
          <a:p>
            <a:r>
              <a:rPr lang="en-US" sz="4000" dirty="0">
                <a:latin typeface="Arial" panose="020B0604020202020204" pitchFamily="34" charset="0"/>
                <a:cs typeface="Arial" panose="020B0604020202020204" pitchFamily="34" charset="0"/>
              </a:rPr>
              <a:t>Serial Monitor</a:t>
            </a:r>
          </a:p>
          <a:p>
            <a:pPr marL="571500" indent="-571500">
              <a:buFont typeface="Arial" panose="020B0604020202020204" pitchFamily="34" charset="0"/>
              <a:buChar char="•"/>
            </a:pPr>
            <a:r>
              <a:rPr lang="en-US" sz="4000" b="1" dirty="0">
                <a:latin typeface="Arial" panose="020B0604020202020204" pitchFamily="34" charset="0"/>
                <a:cs typeface="Arial" panose="020B0604020202020204" pitchFamily="34" charset="0"/>
              </a:rPr>
              <a:t>Operating System</a:t>
            </a:r>
            <a:endParaRPr lang="en-US" sz="4000" dirty="0">
              <a:latin typeface="Arial" panose="020B0604020202020204" pitchFamily="34" charset="0"/>
              <a:cs typeface="Arial" panose="020B0604020202020204" pitchFamily="34" charset="0"/>
            </a:endParaRPr>
          </a:p>
          <a:p>
            <a:r>
              <a:rPr lang="en-US" sz="4000" dirty="0">
                <a:latin typeface="Arial" panose="020B0604020202020204" pitchFamily="34" charset="0"/>
                <a:cs typeface="Arial" panose="020B0604020202020204" pitchFamily="34" charset="0"/>
              </a:rPr>
              <a:t>Windows 10 / Windows 11</a:t>
            </a:r>
          </a:p>
          <a:p>
            <a:pPr marL="571500" indent="-571500">
              <a:buFont typeface="Arial" panose="020B0604020202020204" pitchFamily="34" charset="0"/>
              <a:buChar char="•"/>
            </a:pPr>
            <a:r>
              <a:rPr lang="en-US" sz="4000" b="1" dirty="0">
                <a:latin typeface="Arial" panose="020B0604020202020204" pitchFamily="34" charset="0"/>
                <a:cs typeface="Arial" panose="020B0604020202020204" pitchFamily="34" charset="0"/>
              </a:rPr>
              <a:t>Development Tools</a:t>
            </a:r>
            <a:endParaRPr lang="en-US" sz="4000" dirty="0">
              <a:latin typeface="Arial" panose="020B0604020202020204" pitchFamily="34" charset="0"/>
              <a:cs typeface="Arial" panose="020B0604020202020204" pitchFamily="34" charset="0"/>
            </a:endParaRPr>
          </a:p>
          <a:p>
            <a:r>
              <a:rPr lang="en-US" sz="4000" dirty="0">
                <a:latin typeface="Arial" panose="020B0604020202020204" pitchFamily="34" charset="0"/>
                <a:cs typeface="Arial" panose="020B0604020202020204" pitchFamily="34" charset="0"/>
              </a:rPr>
              <a:t>Arduino IDE / Visual Studio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07BD-B38D-DEFE-C620-65ED500061CE}"/>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64C804AE-7372-E9E9-B47C-67470C8B0430}"/>
              </a:ext>
            </a:extLst>
          </p:cNvPr>
          <p:cNvSpPr txBox="1"/>
          <p:nvPr/>
        </p:nvSpPr>
        <p:spPr>
          <a:xfrm>
            <a:off x="1219200" y="148856"/>
            <a:ext cx="12420600" cy="1016881"/>
          </a:xfrm>
          <a:prstGeom prst="rect">
            <a:avLst/>
          </a:prstGeom>
        </p:spPr>
        <p:txBody>
          <a:bodyPr wrap="square" lIns="0" tIns="0" rIns="0" bIns="0" rtlCol="0" anchor="t">
            <a:spAutoFit/>
          </a:bodyPr>
          <a:lstStyle/>
          <a:p>
            <a:pPr>
              <a:lnSpc>
                <a:spcPts val="8400"/>
              </a:lnSpc>
            </a:pPr>
            <a:r>
              <a:rPr lang="vi-VN" sz="5400" b="1" dirty="0">
                <a:solidFill>
                  <a:schemeClr val="tx2"/>
                </a:solidFill>
                <a:latin typeface="Cabin Bold"/>
                <a:ea typeface="Cabin Bold"/>
                <a:cs typeface="Cabin Bold"/>
                <a:sym typeface="Cabin Bold"/>
              </a:rPr>
              <a:t>PHÂN VÙNG TƯƠNG ĐƯƠNG</a:t>
            </a:r>
          </a:p>
        </p:txBody>
      </p:sp>
      <p:graphicFrame>
        <p:nvGraphicFramePr>
          <p:cNvPr id="2" name="Table 1">
            <a:extLst>
              <a:ext uri="{FF2B5EF4-FFF2-40B4-BE49-F238E27FC236}">
                <a16:creationId xmlns:a16="http://schemas.microsoft.com/office/drawing/2014/main" id="{947E2AE6-3277-3ACB-445A-9B599B37DF69}"/>
              </a:ext>
            </a:extLst>
          </p:cNvPr>
          <p:cNvGraphicFramePr>
            <a:graphicFrameLocks noGrp="1"/>
          </p:cNvGraphicFramePr>
          <p:nvPr>
            <p:extLst>
              <p:ext uri="{D42A27DB-BD31-4B8C-83A1-F6EECF244321}">
                <p14:modId xmlns:p14="http://schemas.microsoft.com/office/powerpoint/2010/main" val="3983902799"/>
              </p:ext>
            </p:extLst>
          </p:nvPr>
        </p:nvGraphicFramePr>
        <p:xfrm>
          <a:off x="-4916" y="1485900"/>
          <a:ext cx="18211800" cy="8678054"/>
        </p:xfrm>
        <a:graphic>
          <a:graphicData uri="http://schemas.openxmlformats.org/drawingml/2006/table">
            <a:tbl>
              <a:tblPr>
                <a:tableStyleId>{3C2FFA5D-87B4-456A-9821-1D502468CF0F}</a:tableStyleId>
              </a:tblPr>
              <a:tblGrid>
                <a:gridCol w="2606338">
                  <a:extLst>
                    <a:ext uri="{9D8B030D-6E8A-4147-A177-3AD203B41FA5}">
                      <a16:colId xmlns:a16="http://schemas.microsoft.com/office/drawing/2014/main" val="287662331"/>
                    </a:ext>
                  </a:extLst>
                </a:gridCol>
                <a:gridCol w="6499563">
                  <a:extLst>
                    <a:ext uri="{9D8B030D-6E8A-4147-A177-3AD203B41FA5}">
                      <a16:colId xmlns:a16="http://schemas.microsoft.com/office/drawing/2014/main" val="2663573882"/>
                    </a:ext>
                  </a:extLst>
                </a:gridCol>
                <a:gridCol w="2410386">
                  <a:extLst>
                    <a:ext uri="{9D8B030D-6E8A-4147-A177-3AD203B41FA5}">
                      <a16:colId xmlns:a16="http://schemas.microsoft.com/office/drawing/2014/main" val="173074589"/>
                    </a:ext>
                  </a:extLst>
                </a:gridCol>
                <a:gridCol w="4374404">
                  <a:extLst>
                    <a:ext uri="{9D8B030D-6E8A-4147-A177-3AD203B41FA5}">
                      <a16:colId xmlns:a16="http://schemas.microsoft.com/office/drawing/2014/main" val="4063505732"/>
                    </a:ext>
                  </a:extLst>
                </a:gridCol>
                <a:gridCol w="1696197">
                  <a:extLst>
                    <a:ext uri="{9D8B030D-6E8A-4147-A177-3AD203B41FA5}">
                      <a16:colId xmlns:a16="http://schemas.microsoft.com/office/drawing/2014/main" val="2077743134"/>
                    </a:ext>
                  </a:extLst>
                </a:gridCol>
                <a:gridCol w="624912">
                  <a:extLst>
                    <a:ext uri="{9D8B030D-6E8A-4147-A177-3AD203B41FA5}">
                      <a16:colId xmlns:a16="http://schemas.microsoft.com/office/drawing/2014/main" val="2575809275"/>
                    </a:ext>
                  </a:extLst>
                </a:gridCol>
              </a:tblGrid>
              <a:tr h="569297">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Test Case ID</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dirty="0">
                          <a:effectLst/>
                          <a:latin typeface="Arial" panose="020B0604020202020204" pitchFamily="34" charset="0"/>
                          <a:cs typeface="Arial" panose="020B0604020202020204" pitchFamily="34" charset="0"/>
                        </a:rPr>
                        <a:t>BU_001</a:t>
                      </a:r>
                      <a:endParaRPr lang="en-US" sz="2000" b="0"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Test Case Description</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dirty="0" err="1">
                          <a:effectLst/>
                          <a:latin typeface="Arial" panose="020B0604020202020204" pitchFamily="34" charset="0"/>
                          <a:cs typeface="Arial" panose="020B0604020202020204" pitchFamily="34" charset="0"/>
                        </a:rPr>
                        <a:t>Kiểm</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thử</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hệ</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thống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thời</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gian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thực</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của</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đèn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giao</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thông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thông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minh</a:t>
                      </a:r>
                      <a:endParaRPr lang="en-US" sz="2000" b="0"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extLst>
                  <a:ext uri="{0D108BD9-81ED-4DB2-BD59-A6C34878D82A}">
                    <a16:rowId xmlns:a16="http://schemas.microsoft.com/office/drawing/2014/main" val="1496734455"/>
                  </a:ext>
                </a:extLst>
              </a:tr>
              <a:tr h="286331">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Created By</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Khánh Ngọc</a:t>
                      </a: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b="1" u="none" strike="noStrike">
                          <a:effectLst/>
                          <a:latin typeface="Arial" panose="020B0604020202020204" pitchFamily="34" charset="0"/>
                          <a:cs typeface="Arial" panose="020B0604020202020204" pitchFamily="34" charset="0"/>
                        </a:rPr>
                        <a:t>Reviewed By</a:t>
                      </a:r>
                      <a:endParaRPr lang="en-US" sz="2000" b="1"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Khánh Ngọc</a:t>
                      </a: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b="1" u="none" strike="noStrike">
                          <a:effectLst/>
                          <a:latin typeface="Arial" panose="020B0604020202020204" pitchFamily="34" charset="0"/>
                          <a:cs typeface="Arial" panose="020B0604020202020204" pitchFamily="34" charset="0"/>
                        </a:rPr>
                        <a:t>Version</a:t>
                      </a:r>
                      <a:endParaRPr lang="en-US" sz="2000" b="1"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1</a:t>
                      </a: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extLst>
                  <a:ext uri="{0D108BD9-81ED-4DB2-BD59-A6C34878D82A}">
                    <a16:rowId xmlns:a16="http://schemas.microsoft.com/office/drawing/2014/main" val="3251977637"/>
                  </a:ext>
                </a:extLst>
              </a:tr>
              <a:tr h="1701161">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QA Tester's Log</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vi-VN" sz="2000" u="none" strike="noStrike" dirty="0">
                          <a:effectLst/>
                          <a:latin typeface="Arial" panose="020B0604020202020204" pitchFamily="34" charset="0"/>
                          <a:cs typeface="Arial" panose="020B0604020202020204" pitchFamily="34" charset="0"/>
                        </a:rPr>
                        <a:t>Thực hiện kiểm thử thời gian hoạt động thực tế của hệ thống đèn giao thông thông minh trên môi trường mô phỏng Wokwi với ESP32.</a:t>
                      </a:r>
                      <a:br>
                        <a:rPr lang="vi-VN" sz="2000" u="none" strike="noStrike" dirty="0">
                          <a:effectLst/>
                          <a:latin typeface="Arial" panose="020B0604020202020204" pitchFamily="34" charset="0"/>
                          <a:cs typeface="Arial" panose="020B0604020202020204" pitchFamily="34" charset="0"/>
                        </a:rPr>
                      </a:br>
                      <a:r>
                        <a:rPr lang="vi-VN" sz="2000" u="none" strike="noStrike" dirty="0">
                          <a:effectLst/>
                          <a:latin typeface="Arial" panose="020B0604020202020204" pitchFamily="34" charset="0"/>
                          <a:cs typeface="Arial" panose="020B0604020202020204" pitchFamily="34" charset="0"/>
                        </a:rPr>
                        <a:t>Mục tiêu là xác minh hệ thống chuyển trạng thái đúng chu kỳ, phản hồi đúng với nút nhấn người đi bộ, và buzzer hoạt động đúng trong trạng thái RED.</a:t>
                      </a:r>
                      <a:endParaRPr lang="vi-VN" sz="2000" b="0"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extLst>
                  <a:ext uri="{0D108BD9-81ED-4DB2-BD59-A6C34878D82A}">
                    <a16:rowId xmlns:a16="http://schemas.microsoft.com/office/drawing/2014/main" val="2629218491"/>
                  </a:ext>
                </a:extLst>
              </a:tr>
              <a:tr h="852263">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Tester's Name</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dirty="0">
                          <a:effectLst/>
                          <a:latin typeface="Arial" panose="020B0604020202020204" pitchFamily="34" charset="0"/>
                          <a:cs typeface="Arial" panose="020B0604020202020204" pitchFamily="34" charset="0"/>
                        </a:rPr>
                        <a:t>Khánh Ngọc</a:t>
                      </a:r>
                      <a:endParaRPr lang="en-US" sz="2000" b="0"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Date Tested</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29-Jan-26</a:t>
                      </a: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Test Case (Pass/Fail/Not executed)</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Pass</a:t>
                      </a: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extLst>
                  <a:ext uri="{0D108BD9-81ED-4DB2-BD59-A6C34878D82A}">
                    <a16:rowId xmlns:a16="http://schemas.microsoft.com/office/drawing/2014/main" val="1187211204"/>
                  </a:ext>
                </a:extLst>
              </a:tr>
              <a:tr h="286331">
                <a:tc>
                  <a:txBody>
                    <a:bodyPr/>
                    <a:lstStyle/>
                    <a:p>
                      <a:pPr algn="l" rtl="0" fontAlgn="ctr">
                        <a:buNone/>
                      </a:pPr>
                      <a:endParaRPr lang="en-US" sz="2000" b="1"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0" i="0" u="none" strike="noStrike" dirty="0">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1"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1"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43484" marR="3624" marT="3624" marB="0" anchor="ctr"/>
                </a:tc>
                <a:extLst>
                  <a:ext uri="{0D108BD9-81ED-4DB2-BD59-A6C34878D82A}">
                    <a16:rowId xmlns:a16="http://schemas.microsoft.com/office/drawing/2014/main" val="1105772801"/>
                  </a:ext>
                </a:extLst>
              </a:tr>
              <a:tr h="286331">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Prerequisites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Test Data Requirement</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2910497697"/>
                  </a:ext>
                </a:extLst>
              </a:tr>
              <a:tr h="340059">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Code nạp thành công lên Wokwi</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RED = 5000 ms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3325135697"/>
                  </a:ext>
                </a:extLst>
              </a:tr>
              <a:tr h="509084">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diagram.json đã cấu hình đúng LED, button, buzzer</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GREEN = 5000 ms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3960893379"/>
                  </a:ext>
                </a:extLst>
              </a:tr>
              <a:tr h="340059">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vi-VN" sz="2000" u="none" strike="noStrike">
                          <a:effectLst/>
                          <a:latin typeface="Arial" panose="020B0604020202020204" pitchFamily="34" charset="0"/>
                          <a:cs typeface="Arial" panose="020B0604020202020204" pitchFamily="34" charset="0"/>
                        </a:rPr>
                        <a:t>Serial Monitor hoạt động bình thường</a:t>
                      </a:r>
                      <a:endParaRPr lang="vi-VN"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ORANGE = 2000 ms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175810869"/>
                  </a:ext>
                </a:extLst>
              </a:tr>
              <a:tr h="286331">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1615787271"/>
                  </a:ext>
                </a:extLst>
              </a:tr>
              <a:tr h="340059">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Step #</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Step Details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Expected Results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Actual Results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519669176"/>
                  </a:ext>
                </a:extLst>
              </a:tr>
              <a:tr h="569297">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Khởi động hệ thống</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dirty="0" err="1">
                          <a:effectLst/>
                          <a:latin typeface="Arial" panose="020B0604020202020204" pitchFamily="34" charset="0"/>
                          <a:cs typeface="Arial" panose="020B0604020202020204" pitchFamily="34" charset="0"/>
                        </a:rPr>
                        <a:t>Hệ</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thống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bắt</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đầu</a:t>
                      </a:r>
                      <a:r>
                        <a:rPr lang="en-US" sz="2000" u="none" strike="noStrike" dirty="0">
                          <a:effectLst/>
                          <a:latin typeface="Arial" panose="020B0604020202020204" pitchFamily="34" charset="0"/>
                          <a:cs typeface="Arial" panose="020B0604020202020204" pitchFamily="34" charset="0"/>
                        </a:rPr>
                        <a:t> ở </a:t>
                      </a:r>
                      <a:r>
                        <a:rPr lang="en-US" sz="2000" u="none" strike="noStrike" dirty="0" err="1">
                          <a:effectLst/>
                          <a:latin typeface="Arial" panose="020B0604020202020204" pitchFamily="34" charset="0"/>
                          <a:cs typeface="Arial" panose="020B0604020202020204" pitchFamily="34" charset="0"/>
                        </a:rPr>
                        <a:t>trạng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thái</a:t>
                      </a:r>
                      <a:r>
                        <a:rPr lang="en-US" sz="2000" u="none" strike="noStrike" dirty="0">
                          <a:effectLst/>
                          <a:latin typeface="Arial" panose="020B0604020202020204" pitchFamily="34" charset="0"/>
                          <a:cs typeface="Arial" panose="020B0604020202020204" pitchFamily="34" charset="0"/>
                        </a:rPr>
                        <a:t> RED</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dirty="0">
                          <a:effectLst/>
                          <a:latin typeface="Arial" panose="020B0604020202020204" pitchFamily="34" charset="0"/>
                          <a:cs typeface="Arial" panose="020B0604020202020204" pitchFamily="34" charset="0"/>
                        </a:rPr>
                        <a:t>SUCCESS</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ctr" fontAlgn="ctr">
                        <a:buNone/>
                      </a:pP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363266320"/>
                  </a:ext>
                </a:extLst>
              </a:tr>
              <a:tr h="852263">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dirty="0">
                          <a:effectLst/>
                          <a:latin typeface="Arial" panose="020B0604020202020204" pitchFamily="34" charset="0"/>
                          <a:cs typeface="Arial" panose="020B0604020202020204" pitchFamily="34" charset="0"/>
                        </a:rPr>
                        <a:t>Quan </a:t>
                      </a:r>
                      <a:r>
                        <a:rPr lang="en-US" sz="2000" u="none" strike="noStrike" dirty="0" err="1">
                          <a:effectLst/>
                          <a:latin typeface="Arial" panose="020B0604020202020204" pitchFamily="34" charset="0"/>
                          <a:cs typeface="Arial" panose="020B0604020202020204" pitchFamily="34" charset="0"/>
                        </a:rPr>
                        <a:t>sát</a:t>
                      </a:r>
                      <a:r>
                        <a:rPr lang="en-US" sz="2000" u="none" strike="noStrike" dirty="0">
                          <a:effectLst/>
                          <a:latin typeface="Arial" panose="020B0604020202020204" pitchFamily="34" charset="0"/>
                          <a:cs typeface="Arial" panose="020B0604020202020204" pitchFamily="34" charset="0"/>
                        </a:rPr>
                        <a:t> chu </a:t>
                      </a:r>
                      <a:r>
                        <a:rPr lang="en-US" sz="2000" u="none" strike="noStrike" dirty="0" err="1">
                          <a:effectLst/>
                          <a:latin typeface="Arial" panose="020B0604020202020204" pitchFamily="34" charset="0"/>
                          <a:cs typeface="Arial" panose="020B0604020202020204" pitchFamily="34" charset="0"/>
                        </a:rPr>
                        <a:t>kỳ</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không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nhấn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nút</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RED → GREEN → ORANGE → RED đúng thứ tự</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dirty="0">
                          <a:effectLst/>
                          <a:latin typeface="Arial" panose="020B0604020202020204" pitchFamily="34" charset="0"/>
                          <a:cs typeface="Arial" panose="020B0604020202020204" pitchFamily="34" charset="0"/>
                        </a:rPr>
                        <a:t>SUCCESS</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2789013173"/>
                  </a:ext>
                </a:extLst>
              </a:tr>
              <a:tr h="340059">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Đo thời gian trạng thái RED</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Duy trì khoảng 5 giây</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SUCCESS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835691234"/>
                  </a:ext>
                </a:extLst>
              </a:tr>
              <a:tr h="340059">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4</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Đo thời gian trạng thái GREEN</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Duy trì khoảng 5 giây</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SUCCESS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2719096844"/>
                  </a:ext>
                </a:extLst>
              </a:tr>
              <a:tr h="340059">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5</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Đo thời gian trạng thái ORANGE</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Duy trì khoảng 2 giây</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SUCCESS</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3624" marR="3624" marT="3624" marB="0" anchor="ctr"/>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3624" marR="3624" marT="3624" marB="0" anchor="b"/>
                </a:tc>
                <a:extLst>
                  <a:ext uri="{0D108BD9-81ED-4DB2-BD59-A6C34878D82A}">
                    <a16:rowId xmlns:a16="http://schemas.microsoft.com/office/drawing/2014/main" val="291431960"/>
                  </a:ext>
                </a:extLst>
              </a:tr>
            </a:tbl>
          </a:graphicData>
        </a:graphic>
      </p:graphicFrame>
    </p:spTree>
    <p:extLst>
      <p:ext uri="{BB962C8B-B14F-4D97-AF65-F5344CB8AC3E}">
        <p14:creationId xmlns:p14="http://schemas.microsoft.com/office/powerpoint/2010/main" val="1761740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8B50-71F5-BDEB-ADCE-6BCEF8F55720}"/>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BDBD9E8D-A12D-D31E-6A07-0BAA5D9A5F23}"/>
              </a:ext>
            </a:extLst>
          </p:cNvPr>
          <p:cNvSpPr txBox="1"/>
          <p:nvPr/>
        </p:nvSpPr>
        <p:spPr>
          <a:xfrm>
            <a:off x="1295400" y="1229"/>
            <a:ext cx="12420600" cy="1016881"/>
          </a:xfrm>
          <a:prstGeom prst="rect">
            <a:avLst/>
          </a:prstGeom>
        </p:spPr>
        <p:txBody>
          <a:bodyPr wrap="square" lIns="0" tIns="0" rIns="0" bIns="0" rtlCol="0" anchor="t">
            <a:spAutoFit/>
          </a:bodyPr>
          <a:lstStyle/>
          <a:p>
            <a:pPr>
              <a:lnSpc>
                <a:spcPts val="8400"/>
              </a:lnSpc>
            </a:pPr>
            <a:r>
              <a:rPr lang="vi-VN" sz="5400" b="1" dirty="0">
                <a:solidFill>
                  <a:schemeClr val="tx2"/>
                </a:solidFill>
                <a:latin typeface="Cabin Bold"/>
                <a:ea typeface="Cabin Bold"/>
                <a:cs typeface="Cabin Bold"/>
                <a:sym typeface="Cabin Bold"/>
              </a:rPr>
              <a:t>GIÁ TRỊ BIÊN</a:t>
            </a:r>
          </a:p>
        </p:txBody>
      </p:sp>
      <p:graphicFrame>
        <p:nvGraphicFramePr>
          <p:cNvPr id="3" name="Table 2">
            <a:extLst>
              <a:ext uri="{FF2B5EF4-FFF2-40B4-BE49-F238E27FC236}">
                <a16:creationId xmlns:a16="http://schemas.microsoft.com/office/drawing/2014/main" id="{14512313-D945-11C4-5850-51DFF640B04D}"/>
              </a:ext>
            </a:extLst>
          </p:cNvPr>
          <p:cNvGraphicFramePr>
            <a:graphicFrameLocks noGrp="1"/>
          </p:cNvGraphicFramePr>
          <p:nvPr>
            <p:extLst>
              <p:ext uri="{D42A27DB-BD31-4B8C-83A1-F6EECF244321}">
                <p14:modId xmlns:p14="http://schemas.microsoft.com/office/powerpoint/2010/main" val="3464763536"/>
              </p:ext>
            </p:extLst>
          </p:nvPr>
        </p:nvGraphicFramePr>
        <p:xfrm>
          <a:off x="1" y="1018110"/>
          <a:ext cx="18287999" cy="9109624"/>
        </p:xfrm>
        <a:graphic>
          <a:graphicData uri="http://schemas.openxmlformats.org/drawingml/2006/table">
            <a:tbl>
              <a:tblPr>
                <a:tableStyleId>{3C2FFA5D-87B4-456A-9821-1D502468CF0F}</a:tableStyleId>
              </a:tblPr>
              <a:tblGrid>
                <a:gridCol w="1793545">
                  <a:extLst>
                    <a:ext uri="{9D8B030D-6E8A-4147-A177-3AD203B41FA5}">
                      <a16:colId xmlns:a16="http://schemas.microsoft.com/office/drawing/2014/main" val="1373218540"/>
                    </a:ext>
                  </a:extLst>
                </a:gridCol>
                <a:gridCol w="6325027">
                  <a:extLst>
                    <a:ext uri="{9D8B030D-6E8A-4147-A177-3AD203B41FA5}">
                      <a16:colId xmlns:a16="http://schemas.microsoft.com/office/drawing/2014/main" val="3324452254"/>
                    </a:ext>
                  </a:extLst>
                </a:gridCol>
                <a:gridCol w="2542356">
                  <a:extLst>
                    <a:ext uri="{9D8B030D-6E8A-4147-A177-3AD203B41FA5}">
                      <a16:colId xmlns:a16="http://schemas.microsoft.com/office/drawing/2014/main" val="443054591"/>
                    </a:ext>
                  </a:extLst>
                </a:gridCol>
                <a:gridCol w="4203287">
                  <a:extLst>
                    <a:ext uri="{9D8B030D-6E8A-4147-A177-3AD203B41FA5}">
                      <a16:colId xmlns:a16="http://schemas.microsoft.com/office/drawing/2014/main" val="287910319"/>
                    </a:ext>
                  </a:extLst>
                </a:gridCol>
                <a:gridCol w="2739027">
                  <a:extLst>
                    <a:ext uri="{9D8B030D-6E8A-4147-A177-3AD203B41FA5}">
                      <a16:colId xmlns:a16="http://schemas.microsoft.com/office/drawing/2014/main" val="2832442639"/>
                    </a:ext>
                  </a:extLst>
                </a:gridCol>
                <a:gridCol w="684757">
                  <a:extLst>
                    <a:ext uri="{9D8B030D-6E8A-4147-A177-3AD203B41FA5}">
                      <a16:colId xmlns:a16="http://schemas.microsoft.com/office/drawing/2014/main" val="1816874584"/>
                    </a:ext>
                  </a:extLst>
                </a:gridCol>
              </a:tblGrid>
              <a:tr h="614447">
                <a:tc>
                  <a:txBody>
                    <a:bodyPr/>
                    <a:lstStyle/>
                    <a:p>
                      <a:pPr algn="l" rtl="0" fontAlgn="ctr">
                        <a:buNone/>
                      </a:pPr>
                      <a:r>
                        <a:rPr lang="en-US" sz="1800" b="1" u="none" strike="noStrike" dirty="0">
                          <a:effectLst/>
                          <a:latin typeface="Arial" panose="020B0604020202020204" pitchFamily="34" charset="0"/>
                          <a:cs typeface="Arial" panose="020B0604020202020204" pitchFamily="34" charset="0"/>
                        </a:rPr>
                        <a:t>Test Case ID</a:t>
                      </a: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dirty="0">
                          <a:effectLst/>
                          <a:latin typeface="Arial" panose="020B0604020202020204" pitchFamily="34" charset="0"/>
                          <a:cs typeface="Arial" panose="020B0604020202020204" pitchFamily="34" charset="0"/>
                        </a:rPr>
                        <a:t>BU_002</a:t>
                      </a:r>
                      <a:endParaRPr lang="en-US" sz="1800" b="0"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b="1" u="none" strike="noStrike" dirty="0">
                          <a:effectLst/>
                          <a:latin typeface="Arial" panose="020B0604020202020204" pitchFamily="34" charset="0"/>
                          <a:cs typeface="Arial" panose="020B0604020202020204" pitchFamily="34" charset="0"/>
                        </a:rPr>
                        <a:t>Test Case Description</a:t>
                      </a: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a:effectLst/>
                          <a:latin typeface="Arial" panose="020B0604020202020204" pitchFamily="34" charset="0"/>
                          <a:cs typeface="Arial" panose="020B0604020202020204" pitchFamily="34" charset="0"/>
                        </a:rPr>
                        <a:t>Kiểm thử giá trị biên thời gian chuyển trạng thái của hệ thống đèn giao thông</a:t>
                      </a: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2263410156"/>
                  </a:ext>
                </a:extLst>
              </a:tr>
              <a:tr h="309124">
                <a:tc>
                  <a:txBody>
                    <a:bodyPr/>
                    <a:lstStyle/>
                    <a:p>
                      <a:pPr algn="l" rtl="0" fontAlgn="ctr">
                        <a:buNone/>
                      </a:pPr>
                      <a:r>
                        <a:rPr lang="en-US" sz="1800" b="1" u="none" strike="noStrike">
                          <a:effectLst/>
                          <a:latin typeface="Arial" panose="020B0604020202020204" pitchFamily="34" charset="0"/>
                          <a:cs typeface="Arial" panose="020B0604020202020204" pitchFamily="34" charset="0"/>
                        </a:rPr>
                        <a:t>Created By</a:t>
                      </a: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a:effectLst/>
                          <a:latin typeface="Arial" panose="020B0604020202020204" pitchFamily="34" charset="0"/>
                          <a:cs typeface="Arial" panose="020B0604020202020204" pitchFamily="34" charset="0"/>
                        </a:rPr>
                        <a:t>Khánh Ngọc</a:t>
                      </a: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b="1" u="none" strike="noStrike">
                          <a:effectLst/>
                          <a:latin typeface="Arial" panose="020B0604020202020204" pitchFamily="34" charset="0"/>
                          <a:cs typeface="Arial" panose="020B0604020202020204" pitchFamily="34" charset="0"/>
                        </a:rPr>
                        <a:t>Reviewed By</a:t>
                      </a: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a:effectLst/>
                          <a:latin typeface="Arial" panose="020B0604020202020204" pitchFamily="34" charset="0"/>
                          <a:cs typeface="Arial" panose="020B0604020202020204" pitchFamily="34" charset="0"/>
                        </a:rPr>
                        <a:t>Khánh Ngọc</a:t>
                      </a: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b="1" u="none" strike="noStrike">
                          <a:effectLst/>
                          <a:latin typeface="Arial" panose="020B0604020202020204" pitchFamily="34" charset="0"/>
                          <a:cs typeface="Arial" panose="020B0604020202020204" pitchFamily="34" charset="0"/>
                        </a:rPr>
                        <a:t>Version</a:t>
                      </a: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a:effectLst/>
                          <a:latin typeface="Arial" panose="020B0604020202020204" pitchFamily="34" charset="0"/>
                          <a:cs typeface="Arial" panose="020B0604020202020204" pitchFamily="34" charset="0"/>
                        </a:rPr>
                        <a:t>1</a:t>
                      </a: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2217177338"/>
                  </a:ext>
                </a:extLst>
              </a:tr>
              <a:tr h="1225091">
                <a:tc>
                  <a:txBody>
                    <a:bodyPr/>
                    <a:lstStyle/>
                    <a:p>
                      <a:pPr algn="l" rtl="0" fontAlgn="ctr">
                        <a:buNone/>
                      </a:pPr>
                      <a:r>
                        <a:rPr lang="en-US" sz="1800" b="1" u="none" strike="noStrike" dirty="0">
                          <a:effectLst/>
                          <a:latin typeface="Arial" panose="020B0604020202020204" pitchFamily="34" charset="0"/>
                          <a:cs typeface="Arial" panose="020B0604020202020204" pitchFamily="34" charset="0"/>
                        </a:rPr>
                        <a:t>QA Tester's Log</a:t>
                      </a: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vi-VN" sz="1800" u="none" strike="noStrike" dirty="0">
                          <a:effectLst/>
                          <a:latin typeface="Arial" panose="020B0604020202020204" pitchFamily="34" charset="0"/>
                          <a:cs typeface="Arial" panose="020B0604020202020204" pitchFamily="34" charset="0"/>
                        </a:rPr>
                        <a:t>Thực hiện kiểm thử giá trị biên của thời gian chuyển trạng thái trong hệ thống đèn giao thông thông minh trên Wokwi.</a:t>
                      </a:r>
                      <a:br>
                        <a:rPr lang="vi-VN" sz="1800" u="none" strike="noStrike" dirty="0">
                          <a:effectLst/>
                          <a:latin typeface="Arial" panose="020B0604020202020204" pitchFamily="34" charset="0"/>
                          <a:cs typeface="Arial" panose="020B0604020202020204" pitchFamily="34" charset="0"/>
                        </a:rPr>
                      </a:br>
                      <a:r>
                        <a:rPr lang="vi-VN" sz="1800" u="none" strike="noStrike" dirty="0">
                          <a:effectLst/>
                          <a:latin typeface="Arial" panose="020B0604020202020204" pitchFamily="34" charset="0"/>
                          <a:cs typeface="Arial" panose="020B0604020202020204" pitchFamily="34" charset="0"/>
                        </a:rPr>
                        <a:t>Kết quả dùng để xác minh hệ thống chỉ chuyển trạng thái tại đúng ngưỡng thời gian thiết kế.</a:t>
                      </a:r>
                      <a:endParaRPr lang="vi-VN" sz="1800" b="0"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249001211"/>
                  </a:ext>
                </a:extLst>
              </a:tr>
              <a:tr h="729942">
                <a:tc>
                  <a:txBody>
                    <a:bodyPr/>
                    <a:lstStyle/>
                    <a:p>
                      <a:pPr algn="l" rtl="0" fontAlgn="ctr">
                        <a:buNone/>
                      </a:pPr>
                      <a:r>
                        <a:rPr lang="en-US" sz="1800" b="1" u="none" strike="noStrike" dirty="0">
                          <a:effectLst/>
                          <a:latin typeface="Arial" panose="020B0604020202020204" pitchFamily="34" charset="0"/>
                          <a:cs typeface="Arial" panose="020B0604020202020204" pitchFamily="34" charset="0"/>
                        </a:rPr>
                        <a:t>Tester's Name</a:t>
                      </a: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a:effectLst/>
                          <a:latin typeface="Arial" panose="020B0604020202020204" pitchFamily="34" charset="0"/>
                          <a:cs typeface="Arial" panose="020B0604020202020204" pitchFamily="34" charset="0"/>
                        </a:rPr>
                        <a:t>Khánh Ngọc</a:t>
                      </a: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b="1" u="none" strike="noStrike" dirty="0">
                          <a:effectLst/>
                          <a:latin typeface="Arial" panose="020B0604020202020204" pitchFamily="34" charset="0"/>
                          <a:cs typeface="Arial" panose="020B0604020202020204" pitchFamily="34" charset="0"/>
                        </a:rPr>
                        <a:t>Date Tested</a:t>
                      </a: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dirty="0">
                          <a:effectLst/>
                          <a:latin typeface="Arial" panose="020B0604020202020204" pitchFamily="34" charset="0"/>
                          <a:cs typeface="Arial" panose="020B0604020202020204" pitchFamily="34" charset="0"/>
                        </a:rPr>
                        <a:t>29-Jan-26</a:t>
                      </a:r>
                      <a:endParaRPr lang="en-US" sz="1800" b="0"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b="1" u="none" strike="noStrike" dirty="0">
                          <a:effectLst/>
                          <a:latin typeface="Arial" panose="020B0604020202020204" pitchFamily="34" charset="0"/>
                          <a:cs typeface="Arial" panose="020B0604020202020204" pitchFamily="34" charset="0"/>
                        </a:rPr>
                        <a:t>Test Case (Pass/Fail/Not executed)</a:t>
                      </a:r>
                      <a:endParaRPr lang="en-US" sz="1800" b="1"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r>
                        <a:rPr lang="en-US" sz="1800" u="none" strike="noStrike">
                          <a:effectLst/>
                          <a:latin typeface="Arial" panose="020B0604020202020204" pitchFamily="34" charset="0"/>
                          <a:cs typeface="Arial" panose="020B0604020202020204" pitchFamily="34" charset="0"/>
                        </a:rPr>
                        <a:t>Pass</a:t>
                      </a: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3997411366"/>
                  </a:ext>
                </a:extLst>
              </a:tr>
              <a:tr h="309124">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2608953898"/>
                  </a:ext>
                </a:extLst>
              </a:tr>
              <a:tr h="487533">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S#</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Prerequisites</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Test Data Requirement</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1851991171"/>
                  </a:ext>
                </a:extLst>
              </a:tr>
              <a:tr h="338477">
                <a:tc>
                  <a:txBody>
                    <a:bodyPr/>
                    <a:lstStyle/>
                    <a:p>
                      <a:pPr algn="ctr" fontAlgn="ctr">
                        <a:buNone/>
                      </a:pPr>
                      <a:r>
                        <a:rPr lang="en-US" sz="1800" u="none" strike="noStrike">
                          <a:effectLst/>
                          <a:latin typeface="Arial" panose="020B0604020202020204" pitchFamily="34" charset="0"/>
                          <a:cs typeface="Arial" panose="020B0604020202020204" pitchFamily="34" charset="0"/>
                        </a:rPr>
                        <a:t>1</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Hệ thống đang chạy ổn định</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dirty="0">
                          <a:effectLst/>
                          <a:latin typeface="Arial" panose="020B0604020202020204" pitchFamily="34" charset="0"/>
                          <a:cs typeface="Arial" panose="020B0604020202020204" pitchFamily="34" charset="0"/>
                        </a:rPr>
                        <a:t>RED = 5000 </a:t>
                      </a:r>
                      <a:r>
                        <a:rPr lang="en-US" sz="1800" u="none" strike="noStrike" dirty="0" err="1">
                          <a:effectLst/>
                          <a:latin typeface="Arial" panose="020B0604020202020204" pitchFamily="34" charset="0"/>
                          <a:cs typeface="Arial" panose="020B0604020202020204" pitchFamily="34" charset="0"/>
                        </a:rPr>
                        <a:t>ms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ctr" fontAlgn="ctr">
                        <a:buNone/>
                      </a:pPr>
                      <a:endParaRPr lang="en-US" sz="1800" b="1"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1444186227"/>
                  </a:ext>
                </a:extLst>
              </a:tr>
              <a:tr h="309124">
                <a:tc>
                  <a:txBody>
                    <a:bodyPr/>
                    <a:lstStyle/>
                    <a:p>
                      <a:pPr algn="ctr" fontAlgn="ctr">
                        <a:buNone/>
                      </a:pPr>
                      <a:r>
                        <a:rPr lang="en-US" sz="1800" u="none" strike="noStrike">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pt-BR" sz="1800" u="none" strike="noStrike">
                          <a:effectLst/>
                          <a:latin typeface="Arial" panose="020B0604020202020204" pitchFamily="34" charset="0"/>
                          <a:cs typeface="Arial" panose="020B0604020202020204" pitchFamily="34" charset="0"/>
                        </a:rPr>
                        <a:t>Có thể quan sát Serial Monitor và LED</a:t>
                      </a:r>
                      <a:endParaRPr lang="pt-BR"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GREEN = 5000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dirty="0">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4231762901"/>
                  </a:ext>
                </a:extLst>
              </a:tr>
              <a:tr h="338477">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3</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Có thể đo thời gian trên Wokwi</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ORANGE = 2000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1700819110"/>
                  </a:ext>
                </a:extLst>
              </a:tr>
              <a:tr h="309124">
                <a:tc>
                  <a:txBody>
                    <a:bodyPr/>
                    <a:lstStyle/>
                    <a:p>
                      <a:pPr algn="l" fontAlgn="ctr">
                        <a:buNone/>
                      </a:pPr>
                      <a:r>
                        <a:rPr lang="en-US" sz="1800" u="none" strike="noStrike">
                          <a:effectLst/>
                          <a:latin typeface="Arial" panose="020B0604020202020204" pitchFamily="34" charset="0"/>
                          <a:cs typeface="Arial" panose="020B0604020202020204" pitchFamily="34" charset="0"/>
                        </a:rPr>
                        <a:t>Test Steps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1378647105"/>
                  </a:ext>
                </a:extLst>
              </a:tr>
              <a:tr h="309124">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Step #</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Step Details</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Expected Results</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ctr" fontAlgn="ctr">
                        <a:buNone/>
                      </a:pPr>
                      <a:r>
                        <a:rPr lang="en-US" sz="1800" b="1" u="none" strike="noStrike" dirty="0">
                          <a:effectLst/>
                          <a:latin typeface="Arial" panose="020B0604020202020204" pitchFamily="34" charset="0"/>
                          <a:cs typeface="Arial" panose="020B0604020202020204" pitchFamily="34" charset="0"/>
                        </a:rPr>
                        <a:t>Actual Results</a:t>
                      </a:r>
                      <a:endParaRPr lang="en-US" sz="1800" b="1"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1751388191"/>
                  </a:ext>
                </a:extLst>
              </a:tr>
              <a:tr h="614447">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1</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dirty="0">
                          <a:effectLst/>
                          <a:latin typeface="Arial" panose="020B0604020202020204" pitchFamily="34" charset="0"/>
                          <a:cs typeface="Arial" panose="020B0604020202020204" pitchFamily="34" charset="0"/>
                        </a:rPr>
                        <a:t>RED </a:t>
                      </a:r>
                      <a:r>
                        <a:rPr lang="en-US" sz="1800" u="none" strike="noStrike" dirty="0" err="1">
                          <a:effectLst/>
                          <a:latin typeface="Arial" panose="020B0604020202020204" pitchFamily="34" charset="0"/>
                          <a:cs typeface="Arial" panose="020B0604020202020204" pitchFamily="34" charset="0"/>
                        </a:rPr>
                        <a:t>tại</a:t>
                      </a:r>
                      <a:r>
                        <a:rPr lang="en-US" sz="1800" u="none" strike="noStrike" dirty="0">
                          <a:effectLst/>
                          <a:latin typeface="Arial" panose="020B0604020202020204" pitchFamily="34" charset="0"/>
                          <a:cs typeface="Arial" panose="020B0604020202020204" pitchFamily="34" charset="0"/>
                        </a:rPr>
                        <a:t> 4999 </a:t>
                      </a:r>
                      <a:r>
                        <a:rPr lang="en-US" sz="1800" u="none" strike="noStrike" dirty="0" err="1">
                          <a:effectLst/>
                          <a:latin typeface="Arial" panose="020B0604020202020204" pitchFamily="34" charset="0"/>
                          <a:cs typeface="Arial" panose="020B0604020202020204" pitchFamily="34" charset="0"/>
                        </a:rPr>
                        <a:t>ms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vi-VN" sz="1800" u="none" strike="noStrike" dirty="0">
                          <a:effectLst/>
                          <a:latin typeface="Arial" panose="020B0604020202020204" pitchFamily="34" charset="0"/>
                          <a:cs typeface="Arial" panose="020B0604020202020204" pitchFamily="34" charset="0"/>
                        </a:rPr>
                        <a:t>Chưa chuyển sang GREEN</a:t>
                      </a:r>
                      <a:endParaRPr lang="vi-VN"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extLst>
                  <a:ext uri="{0D108BD9-81ED-4DB2-BD59-A6C34878D82A}">
                    <a16:rowId xmlns:a16="http://schemas.microsoft.com/office/drawing/2014/main" val="3975148219"/>
                  </a:ext>
                </a:extLst>
              </a:tr>
              <a:tr h="338477">
                <a:tc>
                  <a:txBody>
                    <a:bodyPr/>
                    <a:lstStyle/>
                    <a:p>
                      <a:pPr algn="ctr" fontAlgn="ctr">
                        <a:buNone/>
                      </a:pPr>
                      <a:r>
                        <a:rPr lang="en-US" sz="1800" u="none" strike="noStrike">
                          <a:effectLst/>
                          <a:latin typeface="Arial" panose="020B0604020202020204" pitchFamily="34" charset="0"/>
                          <a:cs typeface="Arial" panose="020B0604020202020204" pitchFamily="34" charset="0"/>
                        </a:rPr>
                        <a:t>2</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RED tại 5000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Chuyển sang GREEN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2393710592"/>
                  </a:ext>
                </a:extLst>
              </a:tr>
              <a:tr h="309124">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3</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RED tại 5001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Đã ở GREEN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1169951290"/>
                  </a:ext>
                </a:extLst>
              </a:tr>
              <a:tr h="487533">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4</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GREEN tại 2999 ms sau khi nhấn nút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vi-VN" sz="1800" u="none" strike="noStrike">
                          <a:effectLst/>
                          <a:latin typeface="Arial" panose="020B0604020202020204" pitchFamily="34" charset="0"/>
                          <a:cs typeface="Arial" panose="020B0604020202020204" pitchFamily="34" charset="0"/>
                        </a:rPr>
                        <a:t>Chưa chuyển ORANGE</a:t>
                      </a:r>
                      <a:endParaRPr lang="vi-VN"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2069006671"/>
                  </a:ext>
                </a:extLst>
              </a:tr>
              <a:tr h="473564">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5</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GREEN tại 3000 ms sau khi nhấn nút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Chuyển ORANGE sớm</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dirty="0">
                          <a:effectLst/>
                          <a:latin typeface="Arial" panose="020B0604020202020204" pitchFamily="34" charset="0"/>
                          <a:cs typeface="Arial" panose="020B0604020202020204" pitchFamily="34" charset="0"/>
                        </a:rPr>
                        <a:t>SUCCESS</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535659441"/>
                  </a:ext>
                </a:extLst>
              </a:tr>
              <a:tr h="614447">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6</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GREEN tại 5000 ms khi không nhấn nút</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Chuyển ORANGE theo chu kỳ chuẩn</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1"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2387049744"/>
                  </a:ext>
                </a:extLst>
              </a:tr>
              <a:tr h="374197">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7</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ORANGE tại 1999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vi-VN" sz="1800" u="none" strike="noStrike">
                          <a:effectLst/>
                          <a:latin typeface="Arial" panose="020B0604020202020204" pitchFamily="34" charset="0"/>
                          <a:cs typeface="Arial" panose="020B0604020202020204" pitchFamily="34" charset="0"/>
                        </a:rPr>
                        <a:t>Chưa chuyển RED</a:t>
                      </a:r>
                      <a:endParaRPr lang="vi-VN"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4158452865"/>
                  </a:ext>
                </a:extLst>
              </a:tr>
              <a:tr h="309124">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8</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ORANGE tại 2000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Chuyển RED</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fontAlgn="b">
                        <a:buNone/>
                      </a:pP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2702884478"/>
                  </a:ext>
                </a:extLst>
              </a:tr>
              <a:tr h="309124">
                <a:tc>
                  <a:txBody>
                    <a:bodyPr/>
                    <a:lstStyle/>
                    <a:p>
                      <a:pPr algn="ctr" fontAlgn="ctr">
                        <a:buNone/>
                      </a:pPr>
                      <a:r>
                        <a:rPr lang="en-US" sz="1800" u="none" strike="noStrike" dirty="0">
                          <a:effectLst/>
                          <a:latin typeface="Arial" panose="020B0604020202020204" pitchFamily="34" charset="0"/>
                          <a:cs typeface="Arial" panose="020B0604020202020204" pitchFamily="34" charset="0"/>
                        </a:rPr>
                        <a:t>9</a:t>
                      </a: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ORANGE tại 2001 ms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Đã ở RED</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fontAlgn="ctr">
                        <a:buNone/>
                      </a:pPr>
                      <a:r>
                        <a:rPr lang="en-US" sz="1800" u="none" strike="noStrike">
                          <a:effectLst/>
                          <a:latin typeface="Arial" panose="020B0604020202020204" pitchFamily="34" charset="0"/>
                          <a:cs typeface="Arial" panose="020B0604020202020204" pitchFamily="34" charset="0"/>
                        </a:rPr>
                        <a:t>SUCCESS</a:t>
                      </a:r>
                      <a:endParaRPr lang="en-US" sz="1800" b="0" i="0" u="none" strike="noStrike">
                        <a:solidFill>
                          <a:srgbClr val="000000"/>
                        </a:solidFill>
                        <a:effectLst/>
                        <a:latin typeface="Arial" panose="020B0604020202020204" pitchFamily="34" charset="0"/>
                        <a:cs typeface="Arial" panose="020B0604020202020204" pitchFamily="34" charset="0"/>
                      </a:endParaRPr>
                    </a:p>
                  </a:txBody>
                  <a:tcPr marL="3416" marR="3416" marT="3416" marB="0" anchor="ctr"/>
                </a:tc>
                <a:tc>
                  <a:txBody>
                    <a:bodyPr/>
                    <a:lstStyle/>
                    <a:p>
                      <a:pPr algn="l" rtl="0" fontAlgn="ctr">
                        <a:buNone/>
                      </a:pPr>
                      <a:endParaRPr lang="en-US" sz="1800" b="0" i="0" u="none" strike="noStrike">
                        <a:solidFill>
                          <a:srgbClr val="1F1F1F"/>
                        </a:solidFill>
                        <a:effectLst/>
                        <a:latin typeface="Arial" panose="020B0604020202020204" pitchFamily="34" charset="0"/>
                        <a:cs typeface="Arial" panose="020B0604020202020204" pitchFamily="34" charset="0"/>
                      </a:endParaRPr>
                    </a:p>
                  </a:txBody>
                  <a:tcPr marL="40990" marR="3416" marT="3416" marB="0" anchor="ctr"/>
                </a:tc>
                <a:tc>
                  <a:txBody>
                    <a:bodyPr/>
                    <a:lstStyle/>
                    <a:p>
                      <a:pPr algn="l" fontAlgn="b">
                        <a:buNone/>
                      </a:pPr>
                      <a:endParaRPr lang="en-US" sz="1800" b="0" i="0" u="none" strike="noStrike" dirty="0">
                        <a:solidFill>
                          <a:srgbClr val="000000"/>
                        </a:solidFill>
                        <a:effectLst/>
                        <a:latin typeface="Arial" panose="020B0604020202020204" pitchFamily="34" charset="0"/>
                        <a:cs typeface="Arial" panose="020B0604020202020204" pitchFamily="34" charset="0"/>
                      </a:endParaRPr>
                    </a:p>
                  </a:txBody>
                  <a:tcPr marL="3416" marR="3416" marT="3416" marB="0" anchor="b"/>
                </a:tc>
                <a:extLst>
                  <a:ext uri="{0D108BD9-81ED-4DB2-BD59-A6C34878D82A}">
                    <a16:rowId xmlns:a16="http://schemas.microsoft.com/office/drawing/2014/main" val="2307690300"/>
                  </a:ext>
                </a:extLst>
              </a:tr>
            </a:tbl>
          </a:graphicData>
        </a:graphic>
      </p:graphicFrame>
    </p:spTree>
    <p:extLst>
      <p:ext uri="{BB962C8B-B14F-4D97-AF65-F5344CB8AC3E}">
        <p14:creationId xmlns:p14="http://schemas.microsoft.com/office/powerpoint/2010/main" val="189265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C2FFE-C48F-24EE-4AEC-93F2A7E473D7}"/>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7AF98FEF-D88F-BB6D-7CB9-91A515E1D670}"/>
              </a:ext>
            </a:extLst>
          </p:cNvPr>
          <p:cNvSpPr txBox="1"/>
          <p:nvPr/>
        </p:nvSpPr>
        <p:spPr>
          <a:xfrm>
            <a:off x="1600200" y="0"/>
            <a:ext cx="12420600" cy="1016881"/>
          </a:xfrm>
          <a:prstGeom prst="rect">
            <a:avLst/>
          </a:prstGeom>
        </p:spPr>
        <p:txBody>
          <a:bodyPr wrap="square" lIns="0" tIns="0" rIns="0" bIns="0" rtlCol="0" anchor="t">
            <a:spAutoFit/>
          </a:bodyPr>
          <a:lstStyle/>
          <a:p>
            <a:pPr>
              <a:lnSpc>
                <a:spcPts val="8400"/>
              </a:lnSpc>
            </a:pPr>
            <a:r>
              <a:rPr lang="vi-VN" sz="5400" b="1" dirty="0">
                <a:solidFill>
                  <a:schemeClr val="tx2"/>
                </a:solidFill>
                <a:latin typeface="Cabin Bold"/>
                <a:ea typeface="Cabin Bold"/>
                <a:cs typeface="Cabin Bold"/>
                <a:sym typeface="Cabin Bold"/>
              </a:rPr>
              <a:t>BẢNG QUYẾT ĐỊNH</a:t>
            </a:r>
          </a:p>
        </p:txBody>
      </p:sp>
      <p:graphicFrame>
        <p:nvGraphicFramePr>
          <p:cNvPr id="2" name="Table 1">
            <a:extLst>
              <a:ext uri="{FF2B5EF4-FFF2-40B4-BE49-F238E27FC236}">
                <a16:creationId xmlns:a16="http://schemas.microsoft.com/office/drawing/2014/main" id="{2AAFDA14-60F1-3EC3-291B-3B0E65CEE061}"/>
              </a:ext>
            </a:extLst>
          </p:cNvPr>
          <p:cNvGraphicFramePr>
            <a:graphicFrameLocks noGrp="1"/>
          </p:cNvGraphicFramePr>
          <p:nvPr>
            <p:extLst>
              <p:ext uri="{D42A27DB-BD31-4B8C-83A1-F6EECF244321}">
                <p14:modId xmlns:p14="http://schemas.microsoft.com/office/powerpoint/2010/main" val="1803030074"/>
              </p:ext>
            </p:extLst>
          </p:nvPr>
        </p:nvGraphicFramePr>
        <p:xfrm>
          <a:off x="21236" y="1016881"/>
          <a:ext cx="18266764" cy="9270122"/>
        </p:xfrm>
        <a:graphic>
          <a:graphicData uri="http://schemas.openxmlformats.org/drawingml/2006/table">
            <a:tbl>
              <a:tblPr>
                <a:tableStyleId>{3C2FFA5D-87B4-456A-9821-1D502468CF0F}</a:tableStyleId>
              </a:tblPr>
              <a:tblGrid>
                <a:gridCol w="3638701">
                  <a:extLst>
                    <a:ext uri="{9D8B030D-6E8A-4147-A177-3AD203B41FA5}">
                      <a16:colId xmlns:a16="http://schemas.microsoft.com/office/drawing/2014/main" val="3190266013"/>
                    </a:ext>
                  </a:extLst>
                </a:gridCol>
                <a:gridCol w="6166835">
                  <a:extLst>
                    <a:ext uri="{9D8B030D-6E8A-4147-A177-3AD203B41FA5}">
                      <a16:colId xmlns:a16="http://schemas.microsoft.com/office/drawing/2014/main" val="3918920932"/>
                    </a:ext>
                  </a:extLst>
                </a:gridCol>
                <a:gridCol w="2056000">
                  <a:extLst>
                    <a:ext uri="{9D8B030D-6E8A-4147-A177-3AD203B41FA5}">
                      <a16:colId xmlns:a16="http://schemas.microsoft.com/office/drawing/2014/main" val="2776961976"/>
                    </a:ext>
                  </a:extLst>
                </a:gridCol>
                <a:gridCol w="3585828">
                  <a:extLst>
                    <a:ext uri="{9D8B030D-6E8A-4147-A177-3AD203B41FA5}">
                      <a16:colId xmlns:a16="http://schemas.microsoft.com/office/drawing/2014/main" val="1150219820"/>
                    </a:ext>
                  </a:extLst>
                </a:gridCol>
                <a:gridCol w="2107709">
                  <a:extLst>
                    <a:ext uri="{9D8B030D-6E8A-4147-A177-3AD203B41FA5}">
                      <a16:colId xmlns:a16="http://schemas.microsoft.com/office/drawing/2014/main" val="2527508259"/>
                    </a:ext>
                  </a:extLst>
                </a:gridCol>
                <a:gridCol w="711691">
                  <a:extLst>
                    <a:ext uri="{9D8B030D-6E8A-4147-A177-3AD203B41FA5}">
                      <a16:colId xmlns:a16="http://schemas.microsoft.com/office/drawing/2014/main" val="2737992947"/>
                    </a:ext>
                  </a:extLst>
                </a:gridCol>
              </a:tblGrid>
              <a:tr h="498985">
                <a:tc>
                  <a:txBody>
                    <a:bodyPr/>
                    <a:lstStyle/>
                    <a:p>
                      <a:pPr algn="l" rtl="0" fontAlgn="ctr">
                        <a:buNone/>
                      </a:pPr>
                      <a:r>
                        <a:rPr lang="en-US" sz="1600" b="1" u="none" strike="noStrike" dirty="0">
                          <a:effectLst/>
                        </a:rPr>
                        <a:t>Test Case ID</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a:effectLst/>
                        </a:rPr>
                        <a:t>BU_003</a:t>
                      </a: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b="1" u="none" strike="noStrike" dirty="0">
                          <a:effectLst/>
                        </a:rPr>
                        <a:t>Test Case Description</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dirty="0" err="1">
                          <a:effectLst/>
                        </a:rPr>
                        <a:t>Kiểm</a:t>
                      </a:r>
                      <a:r>
                        <a:rPr lang="en-US" sz="1600" u="none" strike="noStrike" dirty="0">
                          <a:effectLst/>
                        </a:rPr>
                        <a:t> </a:t>
                      </a:r>
                      <a:r>
                        <a:rPr lang="en-US" sz="1600" u="none" strike="noStrike" dirty="0" err="1">
                          <a:effectLst/>
                        </a:rPr>
                        <a:t>thử</a:t>
                      </a:r>
                      <a:r>
                        <a:rPr lang="en-US" sz="1600" u="none" strike="noStrike" dirty="0">
                          <a:effectLst/>
                        </a:rPr>
                        <a:t> </a:t>
                      </a:r>
                      <a:r>
                        <a:rPr lang="en-US" sz="1600" u="none" strike="noStrike" dirty="0" err="1">
                          <a:effectLst/>
                        </a:rPr>
                        <a:t>điều</a:t>
                      </a:r>
                      <a:r>
                        <a:rPr lang="en-US" sz="1600" u="none" strike="noStrike" dirty="0">
                          <a:effectLst/>
                        </a:rPr>
                        <a:t> </a:t>
                      </a:r>
                      <a:r>
                        <a:rPr lang="en-US" sz="1600" u="none" strike="noStrike" dirty="0" err="1">
                          <a:effectLst/>
                        </a:rPr>
                        <a:t>kiện</a:t>
                      </a:r>
                      <a:r>
                        <a:rPr lang="en-US" sz="1600" u="none" strike="noStrike" dirty="0">
                          <a:effectLst/>
                        </a:rPr>
                        <a:t> </a:t>
                      </a:r>
                      <a:r>
                        <a:rPr lang="en-US" sz="1600" u="none" strike="noStrike" dirty="0" err="1">
                          <a:effectLst/>
                        </a:rPr>
                        <a:t>hoạt</a:t>
                      </a:r>
                      <a:r>
                        <a:rPr lang="en-US" sz="1600" u="none" strike="noStrike" dirty="0">
                          <a:effectLst/>
                        </a:rPr>
                        <a:t> </a:t>
                      </a:r>
                      <a:r>
                        <a:rPr lang="en-US" sz="1600" u="none" strike="noStrike" dirty="0" err="1">
                          <a:effectLst/>
                        </a:rPr>
                        <a:t>động</a:t>
                      </a:r>
                      <a:r>
                        <a:rPr lang="en-US" sz="1600" u="none" strike="noStrike" dirty="0">
                          <a:effectLst/>
                        </a:rPr>
                        <a:t> </a:t>
                      </a:r>
                      <a:r>
                        <a:rPr lang="en-US" sz="1600" u="none" strike="noStrike" dirty="0" err="1">
                          <a:effectLst/>
                        </a:rPr>
                        <a:t>của</a:t>
                      </a:r>
                      <a:r>
                        <a:rPr lang="en-US" sz="1600" u="none" strike="noStrike" dirty="0">
                          <a:effectLst/>
                        </a:rPr>
                        <a:t> </a:t>
                      </a:r>
                      <a:r>
                        <a:rPr lang="en-US" sz="1600" u="none" strike="noStrike" dirty="0" err="1">
                          <a:effectLst/>
                        </a:rPr>
                        <a:t>hệ</a:t>
                      </a:r>
                      <a:r>
                        <a:rPr lang="en-US" sz="1600" u="none" strike="noStrike" dirty="0">
                          <a:effectLst/>
                        </a:rPr>
                        <a:t> </a:t>
                      </a:r>
                      <a:r>
                        <a:rPr lang="en-US" sz="1600" u="none" strike="noStrike" dirty="0" err="1">
                          <a:effectLst/>
                        </a:rPr>
                        <a:t>thống</a:t>
                      </a:r>
                      <a:r>
                        <a:rPr lang="en-US" sz="1600" u="none" strike="noStrike" dirty="0">
                          <a:effectLst/>
                        </a:rPr>
                        <a:t> </a:t>
                      </a:r>
                      <a:r>
                        <a:rPr lang="en-US" sz="1600" u="none" strike="noStrike" dirty="0" err="1">
                          <a:effectLst/>
                        </a:rPr>
                        <a:t>đèn</a:t>
                      </a:r>
                      <a:r>
                        <a:rPr lang="en-US" sz="1600" u="none" strike="noStrike" dirty="0">
                          <a:effectLst/>
                        </a:rPr>
                        <a:t> </a:t>
                      </a:r>
                      <a:r>
                        <a:rPr lang="en-US" sz="1600" u="none" strike="noStrike" dirty="0" err="1">
                          <a:effectLst/>
                        </a:rPr>
                        <a:t>giao</a:t>
                      </a:r>
                      <a:r>
                        <a:rPr lang="en-US" sz="1600" u="none" strike="noStrike" dirty="0">
                          <a:effectLst/>
                        </a:rPr>
                        <a:t> </a:t>
                      </a:r>
                      <a:r>
                        <a:rPr lang="en-US" sz="1600" u="none" strike="noStrike" dirty="0" err="1">
                          <a:effectLst/>
                        </a:rPr>
                        <a:t>thông</a:t>
                      </a:r>
                      <a:r>
                        <a:rPr lang="en-US" sz="1600" u="none" strike="noStrike" dirty="0">
                          <a:effectLst/>
                        </a:rPr>
                        <a:t> </a:t>
                      </a:r>
                      <a:r>
                        <a:rPr lang="en-US" sz="1600" u="none" strike="noStrike" dirty="0" err="1">
                          <a:effectLst/>
                        </a:rPr>
                        <a:t>thông</a:t>
                      </a:r>
                      <a:r>
                        <a:rPr lang="en-US" sz="1600" u="none" strike="noStrike" dirty="0">
                          <a:effectLst/>
                        </a:rPr>
                        <a:t> </a:t>
                      </a:r>
                      <a:r>
                        <a:rPr lang="en-US" sz="1600" u="none" strike="noStrike" dirty="0" err="1">
                          <a:effectLst/>
                        </a:rPr>
                        <a:t>minh</a:t>
                      </a:r>
                      <a:endParaRPr lang="en-US" sz="1600" b="0"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extLst>
                  <a:ext uri="{0D108BD9-81ED-4DB2-BD59-A6C34878D82A}">
                    <a16:rowId xmlns:a16="http://schemas.microsoft.com/office/drawing/2014/main" val="983862364"/>
                  </a:ext>
                </a:extLst>
              </a:tr>
              <a:tr h="252499">
                <a:tc>
                  <a:txBody>
                    <a:bodyPr/>
                    <a:lstStyle/>
                    <a:p>
                      <a:pPr algn="l" rtl="0" fontAlgn="ctr">
                        <a:buNone/>
                      </a:pPr>
                      <a:r>
                        <a:rPr lang="en-US" sz="1600" b="1" u="none" strike="noStrike">
                          <a:effectLst/>
                        </a:rPr>
                        <a:t>Created By</a:t>
                      </a:r>
                      <a:endParaRPr lang="en-US" sz="1600" b="1"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a:effectLst/>
                        </a:rPr>
                        <a:t>Khánh Ngọc</a:t>
                      </a: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b="1" u="none" strike="noStrike">
                          <a:effectLst/>
                        </a:rPr>
                        <a:t>Reviewed By</a:t>
                      </a:r>
                      <a:endParaRPr lang="en-US" sz="1600" b="1"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a:effectLst/>
                        </a:rPr>
                        <a:t>Khánh Ngọc</a:t>
                      </a: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b="1" u="none" strike="noStrike" dirty="0">
                          <a:effectLst/>
                        </a:rPr>
                        <a:t>Version</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a:effectLst/>
                        </a:rPr>
                        <a:t>1</a:t>
                      </a: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extLst>
                  <a:ext uri="{0D108BD9-81ED-4DB2-BD59-A6C34878D82A}">
                    <a16:rowId xmlns:a16="http://schemas.microsoft.com/office/drawing/2014/main" val="1317099900"/>
                  </a:ext>
                </a:extLst>
              </a:tr>
              <a:tr h="1126696">
                <a:tc>
                  <a:txBody>
                    <a:bodyPr/>
                    <a:lstStyle/>
                    <a:p>
                      <a:pPr algn="l" rtl="0" fontAlgn="ctr">
                        <a:buNone/>
                      </a:pPr>
                      <a:r>
                        <a:rPr lang="en-US" sz="1600" b="1" u="none" strike="noStrike" dirty="0">
                          <a:effectLst/>
                        </a:rPr>
                        <a:t>QA Tester's Log</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vi-VN" sz="1600" u="none" strike="noStrike">
                          <a:effectLst/>
                        </a:rPr>
                        <a:t>Thực hiện kiểm thử các điều kiện vận hành của hệ thống đèn giao thông thông minh trong môi trường mô phỏng Wokwi.</a:t>
                      </a:r>
                      <a:br>
                        <a:rPr lang="vi-VN" sz="1600" u="none" strike="noStrike">
                          <a:effectLst/>
                        </a:rPr>
                      </a:br>
                      <a:r>
                        <a:rPr lang="vi-VN" sz="1600" u="none" strike="noStrike">
                          <a:effectLst/>
                        </a:rPr>
                        <a:t>Mục tiêu là xác minh hệ thống phản ứng đúng với các điều kiện nút nhấn, trạng thái đèn và tín hiệu pedestrian.</a:t>
                      </a:r>
                      <a:endParaRPr lang="vi-VN"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extLst>
                  <a:ext uri="{0D108BD9-81ED-4DB2-BD59-A6C34878D82A}">
                    <a16:rowId xmlns:a16="http://schemas.microsoft.com/office/drawing/2014/main" val="2351890173"/>
                  </a:ext>
                </a:extLst>
              </a:tr>
              <a:tr h="677466">
                <a:tc>
                  <a:txBody>
                    <a:bodyPr/>
                    <a:lstStyle/>
                    <a:p>
                      <a:pPr algn="l" rtl="0" fontAlgn="ctr">
                        <a:buNone/>
                      </a:pPr>
                      <a:r>
                        <a:rPr lang="en-US" sz="1600" b="1" u="none" strike="noStrike" dirty="0">
                          <a:effectLst/>
                        </a:rPr>
                        <a:t>Tester's Name</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a:effectLst/>
                        </a:rPr>
                        <a:t>Khánh Ngọc</a:t>
                      </a: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b="1" u="none" strike="noStrike" dirty="0">
                          <a:effectLst/>
                        </a:rPr>
                        <a:t>Date Tested</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dirty="0">
                          <a:effectLst/>
                        </a:rPr>
                        <a:t>29-Jan-26</a:t>
                      </a:r>
                      <a:endParaRPr lang="en-US" sz="1600" b="0"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b="1" u="none" strike="noStrike" dirty="0">
                          <a:effectLst/>
                        </a:rPr>
                        <a:t>Test Case (Pass/Fail/Not executed)</a:t>
                      </a:r>
                      <a:endParaRPr lang="en-US" sz="1600" b="1"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r>
                        <a:rPr lang="en-US" sz="1600" u="none" strike="noStrike">
                          <a:effectLst/>
                        </a:rPr>
                        <a:t>Pass</a:t>
                      </a: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extLst>
                  <a:ext uri="{0D108BD9-81ED-4DB2-BD59-A6C34878D82A}">
                    <a16:rowId xmlns:a16="http://schemas.microsoft.com/office/drawing/2014/main" val="1754678168"/>
                  </a:ext>
                </a:extLst>
              </a:tr>
              <a:tr h="251735">
                <a:tc>
                  <a:txBody>
                    <a:bodyPr/>
                    <a:lstStyle/>
                    <a:p>
                      <a:pPr algn="l" rtl="0" fontAlgn="ctr">
                        <a:buNone/>
                      </a:pPr>
                      <a:endParaRPr lang="en-US" sz="1600" b="1"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1"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1"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extLst>
                  <a:ext uri="{0D108BD9-81ED-4DB2-BD59-A6C34878D82A}">
                    <a16:rowId xmlns:a16="http://schemas.microsoft.com/office/drawing/2014/main" val="2743033115"/>
                  </a:ext>
                </a:extLst>
              </a:tr>
              <a:tr h="251735">
                <a:tc>
                  <a:txBody>
                    <a:bodyPr/>
                    <a:lstStyle/>
                    <a:p>
                      <a:pPr algn="ctr" fontAlgn="ctr">
                        <a:buNone/>
                      </a:pPr>
                      <a:r>
                        <a:rPr lang="en-US" sz="1600" b="1" u="none" strike="noStrike" dirty="0">
                          <a:effectLst/>
                        </a:rPr>
                        <a:t>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ctr" fontAlgn="ctr">
                        <a:buNone/>
                      </a:pPr>
                      <a:r>
                        <a:rPr lang="en-US" sz="1600" b="1" u="none" strike="noStrike" dirty="0">
                          <a:effectLst/>
                        </a:rPr>
                        <a:t>Prerequisites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ctr" fontAlgn="ctr">
                        <a:buNone/>
                      </a:pPr>
                      <a:r>
                        <a:rPr lang="en-US" sz="1600" b="1" u="none" strike="noStrike" dirty="0">
                          <a:effectLst/>
                        </a:rPr>
                        <a:t>Test Conditions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ctr" fontAlgn="ctr">
                        <a:buNone/>
                      </a:pP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3157064819"/>
                  </a:ext>
                </a:extLst>
              </a:tr>
              <a:tr h="498985">
                <a:tc>
                  <a:txBody>
                    <a:bodyPr/>
                    <a:lstStyle/>
                    <a:p>
                      <a:pPr algn="ctr" fontAlgn="ctr">
                        <a:buNone/>
                      </a:pPr>
                      <a:r>
                        <a:rPr lang="en-US" sz="1600" u="none" strike="noStrike" dirty="0">
                          <a:effectLst/>
                        </a:rPr>
                        <a:t>1</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vi-VN" sz="1600" u="none" strike="noStrike">
                          <a:effectLst/>
                        </a:rPr>
                        <a:t>Hệ thống hoạt động bình thường</a:t>
                      </a:r>
                      <a:endParaRPr lang="vi-VN"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dirty="0">
                          <a:effectLst/>
                        </a:rPr>
                        <a:t>C1: </a:t>
                      </a:r>
                      <a:r>
                        <a:rPr lang="en-US" sz="1600" u="none" strike="noStrike" dirty="0" err="1">
                          <a:effectLst/>
                        </a:rPr>
                        <a:t>Hệ</a:t>
                      </a:r>
                      <a:r>
                        <a:rPr lang="en-US" sz="1600" u="none" strike="noStrike" dirty="0">
                          <a:effectLst/>
                        </a:rPr>
                        <a:t> </a:t>
                      </a:r>
                      <a:r>
                        <a:rPr lang="en-US" sz="1600" u="none" strike="noStrike" dirty="0" err="1">
                          <a:effectLst/>
                        </a:rPr>
                        <a:t>thống</a:t>
                      </a:r>
                      <a:r>
                        <a:rPr lang="en-US" sz="1600" u="none" strike="noStrike" dirty="0">
                          <a:effectLst/>
                        </a:rPr>
                        <a:t> </a:t>
                      </a:r>
                      <a:r>
                        <a:rPr lang="en-US" sz="1600" u="none" strike="noStrike" dirty="0" err="1">
                          <a:effectLst/>
                        </a:rPr>
                        <a:t>đang</a:t>
                      </a:r>
                      <a:r>
                        <a:rPr lang="en-US" sz="1600" u="none" strike="noStrike" dirty="0">
                          <a:effectLst/>
                        </a:rPr>
                        <a:t> ở RED</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904297644"/>
                  </a:ext>
                </a:extLst>
              </a:tr>
              <a:tr h="498985">
                <a:tc>
                  <a:txBody>
                    <a:bodyPr/>
                    <a:lstStyle/>
                    <a:p>
                      <a:pPr algn="ctr" fontAlgn="ctr">
                        <a:buNone/>
                      </a:pPr>
                      <a:r>
                        <a:rPr lang="en-US" sz="1600" u="none" strike="noStrike">
                          <a:effectLst/>
                        </a:rPr>
                        <a:t>2</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Có thể nhấn button trên Wokwi</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C2: Hệ thống đang ở GREEN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3130614437"/>
                  </a:ext>
                </a:extLst>
              </a:tr>
              <a:tr h="452852">
                <a:tc>
                  <a:txBody>
                    <a:bodyPr/>
                    <a:lstStyle/>
                    <a:p>
                      <a:pPr algn="ctr" fontAlgn="ctr">
                        <a:buNone/>
                      </a:pPr>
                      <a:r>
                        <a:rPr lang="en-US" sz="1600" u="none" strike="noStrike" dirty="0">
                          <a:effectLst/>
                        </a:rPr>
                        <a:t>3</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Có thể quan sát LED pedestrian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vi-VN" sz="1600" u="none" strike="noStrike">
                          <a:effectLst/>
                        </a:rPr>
                        <a:t>C3: Button được nhấn</a:t>
                      </a:r>
                      <a:endParaRPr lang="vi-VN"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3261579637"/>
                  </a:ext>
                </a:extLst>
              </a:tr>
              <a:tr h="550960">
                <a:tc>
                  <a:txBody>
                    <a:bodyPr/>
                    <a:lstStyle/>
                    <a:p>
                      <a:pPr algn="ctr" fontAlgn="ctr">
                        <a:buNone/>
                      </a:pPr>
                      <a:r>
                        <a:rPr lang="en-US" sz="1600" u="none" strike="noStrike" dirty="0">
                          <a:effectLst/>
                        </a:rPr>
                        <a:t>4</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Có thể quan sát buzzer</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vi-VN" sz="1600" u="none" strike="noStrike">
                          <a:effectLst/>
                        </a:rPr>
                        <a:t>C4: Button không được nhấn</a:t>
                      </a:r>
                      <a:endParaRPr lang="vi-VN"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1022492298"/>
                  </a:ext>
                </a:extLst>
              </a:tr>
              <a:tr h="263477">
                <a:tc>
                  <a:txBody>
                    <a:bodyPr/>
                    <a:lstStyle/>
                    <a:p>
                      <a:pPr algn="ctr" fontAlgn="ctr">
                        <a:buNone/>
                      </a:pPr>
                      <a:r>
                        <a:rPr lang="en-US" sz="1600" b="1" u="none" strike="noStrike" dirty="0">
                          <a:effectLst/>
                        </a:rPr>
                        <a:t>Step #</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ctr" fontAlgn="ctr">
                        <a:buNone/>
                      </a:pPr>
                      <a:r>
                        <a:rPr lang="en-US" sz="1600" b="1" u="none" strike="noStrike" dirty="0">
                          <a:effectLst/>
                        </a:rPr>
                        <a:t>Step Details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ctr" fontAlgn="ctr">
                        <a:buNone/>
                      </a:pPr>
                      <a:r>
                        <a:rPr lang="en-US" sz="1600" b="1" u="none" strike="noStrike" dirty="0">
                          <a:effectLst/>
                        </a:rPr>
                        <a:t>Expected Results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ctr" fontAlgn="ctr">
                        <a:buNone/>
                      </a:pPr>
                      <a:r>
                        <a:rPr lang="en-US" sz="1600" b="1" u="none" strike="noStrike" dirty="0">
                          <a:effectLst/>
                        </a:rPr>
                        <a:t>Actual Results</a:t>
                      </a:r>
                      <a:endParaRPr lang="en-US" sz="1600" b="1"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rtl="0" fontAlgn="ctr">
                        <a:buNone/>
                      </a:pPr>
                      <a:endParaRPr lang="en-US" sz="1600" b="1"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fontAlgn="b">
                        <a:buNone/>
                      </a:pP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3162289344"/>
                  </a:ext>
                </a:extLst>
              </a:tr>
              <a:tr h="498985">
                <a:tc>
                  <a:txBody>
                    <a:bodyPr/>
                    <a:lstStyle/>
                    <a:p>
                      <a:pPr algn="ctr" fontAlgn="ctr">
                        <a:buNone/>
                      </a:pPr>
                      <a:r>
                        <a:rPr lang="en-US" sz="1600" u="none" strike="noStrike" dirty="0">
                          <a:effectLst/>
                        </a:rPr>
                        <a:t>1</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ở RED, không nhấn nút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Pedestrian GREEN bật, buzzer hoạt động</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rtl="0" fontAlgn="ctr">
                        <a:buNone/>
                      </a:pPr>
                      <a:endParaRPr lang="en-US" sz="1600" b="0" i="0" u="none" strike="noStrike" dirty="0">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70476797"/>
                  </a:ext>
                </a:extLst>
              </a:tr>
              <a:tr h="498985">
                <a:tc>
                  <a:txBody>
                    <a:bodyPr/>
                    <a:lstStyle/>
                    <a:p>
                      <a:pPr algn="ctr" fontAlgn="ctr">
                        <a:buNone/>
                      </a:pPr>
                      <a:r>
                        <a:rPr lang="en-US" sz="1600" u="none" strike="noStrike">
                          <a:effectLst/>
                        </a:rPr>
                        <a:t>2</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ở GREEN, không nhấn nút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chạy đủ 5 giây rồi sang ORANGE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449506174"/>
                  </a:ext>
                </a:extLst>
              </a:tr>
              <a:tr h="498985">
                <a:tc>
                  <a:txBody>
                    <a:bodyPr/>
                    <a:lstStyle/>
                    <a:p>
                      <a:pPr algn="ctr" fontAlgn="ctr">
                        <a:buNone/>
                      </a:pPr>
                      <a:r>
                        <a:rPr lang="en-US" sz="1600" u="none" strike="noStrike" dirty="0">
                          <a:effectLst/>
                        </a:rPr>
                        <a:t>3</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ở GREEN, nhấn nút 1 lần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Sau 3 giây chuyển sang ORANGE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1376792608"/>
                  </a:ext>
                </a:extLst>
              </a:tr>
              <a:tr h="498985">
                <a:tc>
                  <a:txBody>
                    <a:bodyPr/>
                    <a:lstStyle/>
                    <a:p>
                      <a:pPr algn="ctr" fontAlgn="ctr">
                        <a:buNone/>
                      </a:pPr>
                      <a:r>
                        <a:rPr lang="en-US" sz="1600" u="none" strike="noStrike">
                          <a:effectLst/>
                        </a:rPr>
                        <a:t>4</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ở GREEN, nhấn nút nhiều lần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Chỉ xử lý 1 yêu cầu hợp lệ, không lỗi logic</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rtl="0" fontAlgn="ctr">
                        <a:buNone/>
                      </a:pPr>
                      <a:endParaRPr lang="en-US" sz="1600" b="0" i="0" u="none" strike="noStrike">
                        <a:solidFill>
                          <a:srgbClr val="1F1F1F"/>
                        </a:solidFill>
                        <a:effectLst/>
                        <a:latin typeface="Arial" panose="020B0604020202020204" pitchFamily="34" charset="0"/>
                        <a:cs typeface="Arial" panose="020B0604020202020204" pitchFamily="34" charset="0"/>
                      </a:endParaRPr>
                    </a:p>
                  </a:txBody>
                  <a:tcPr marL="53090"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352817074"/>
                  </a:ext>
                </a:extLst>
              </a:tr>
              <a:tr h="498985">
                <a:tc>
                  <a:txBody>
                    <a:bodyPr/>
                    <a:lstStyle/>
                    <a:p>
                      <a:pPr algn="ctr" fontAlgn="ctr">
                        <a:buNone/>
                      </a:pPr>
                      <a:r>
                        <a:rPr lang="en-US" sz="1600" u="none" strike="noStrike" dirty="0">
                          <a:effectLst/>
                        </a:rPr>
                        <a:t>5</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ở RED, nhấn nút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Không làm sai chu kỳ đang chạy</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1205853212"/>
                  </a:ext>
                </a:extLst>
              </a:tr>
              <a:tr h="498985">
                <a:tc>
                  <a:txBody>
                    <a:bodyPr/>
                    <a:lstStyle/>
                    <a:p>
                      <a:pPr algn="ctr" fontAlgn="ctr">
                        <a:buNone/>
                      </a:pPr>
                      <a:r>
                        <a:rPr lang="en-US" sz="1600" u="none" strike="noStrike" dirty="0">
                          <a:effectLst/>
                        </a:rPr>
                        <a:t>6</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Hệ thống ở ORANGE, nhấn nút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Không làm sai trạng thái ORANGE</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2740797413"/>
                  </a:ext>
                </a:extLst>
              </a:tr>
              <a:tr h="498985">
                <a:tc>
                  <a:txBody>
                    <a:bodyPr/>
                    <a:lstStyle/>
                    <a:p>
                      <a:pPr algn="ctr" fontAlgn="ctr">
                        <a:buNone/>
                      </a:pPr>
                      <a:r>
                        <a:rPr lang="en-US" sz="1600" u="none" strike="noStrike" dirty="0">
                          <a:effectLst/>
                        </a:rPr>
                        <a:t>7</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Chuyển từ RED sang GREEN</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Buzzer tắt, pedestrian RED bật</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2173183743"/>
                  </a:ext>
                </a:extLst>
              </a:tr>
              <a:tr h="452852">
                <a:tc>
                  <a:txBody>
                    <a:bodyPr/>
                    <a:lstStyle/>
                    <a:p>
                      <a:pPr algn="ctr" fontAlgn="ctr">
                        <a:buNone/>
                      </a:pPr>
                      <a:r>
                        <a:rPr lang="en-US" sz="1600" u="none" strike="noStrike" dirty="0">
                          <a:effectLst/>
                        </a:rPr>
                        <a:t>8</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dirty="0" err="1">
                          <a:effectLst/>
                        </a:rPr>
                        <a:t>Chuyển</a:t>
                      </a:r>
                      <a:r>
                        <a:rPr lang="en-US" sz="1600" u="none" strike="noStrike" dirty="0">
                          <a:effectLst/>
                        </a:rPr>
                        <a:t> </a:t>
                      </a:r>
                      <a:r>
                        <a:rPr lang="en-US" sz="1600" u="none" strike="noStrike" dirty="0" err="1">
                          <a:effectLst/>
                        </a:rPr>
                        <a:t>từ</a:t>
                      </a:r>
                      <a:r>
                        <a:rPr lang="en-US" sz="1600" u="none" strike="noStrike" dirty="0">
                          <a:effectLst/>
                        </a:rPr>
                        <a:t> ORANGE sang RED</a:t>
                      </a: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Pedestrian GREEN bật lại</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ctr">
                        <a:buNone/>
                      </a:pPr>
                      <a:r>
                        <a:rPr lang="en-US" sz="1600" u="none" strike="noStrike">
                          <a:effectLst/>
                        </a:rPr>
                        <a:t>SUCCESS</a:t>
                      </a: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ctr"/>
                </a:tc>
                <a:tc>
                  <a:txBody>
                    <a:bodyPr/>
                    <a:lstStyle/>
                    <a:p>
                      <a:pPr algn="l" fontAlgn="b">
                        <a:buNone/>
                      </a:pPr>
                      <a:endParaRPr lang="en-US" sz="1600" b="0" i="0" u="none" strike="noStrike">
                        <a:solidFill>
                          <a:srgbClr val="000000"/>
                        </a:solidFill>
                        <a:effectLst/>
                        <a:latin typeface="Arial" panose="020B0604020202020204" pitchFamily="34" charset="0"/>
                        <a:cs typeface="Arial" panose="020B0604020202020204" pitchFamily="34" charset="0"/>
                      </a:endParaRPr>
                    </a:p>
                  </a:txBody>
                  <a:tcPr marL="4424" marR="4424" marT="4424" marB="0" anchor="b"/>
                </a:tc>
                <a:tc>
                  <a:txBody>
                    <a:bodyPr/>
                    <a:lstStyle/>
                    <a:p>
                      <a:pPr algn="l" fontAlgn="b">
                        <a:buNone/>
                      </a:pPr>
                      <a:endParaRPr lang="en-US" sz="1600" b="0" i="0" u="none" strike="noStrike" dirty="0">
                        <a:solidFill>
                          <a:srgbClr val="000000"/>
                        </a:solidFill>
                        <a:effectLst/>
                        <a:latin typeface="Arial" panose="020B0604020202020204" pitchFamily="34" charset="0"/>
                        <a:cs typeface="Arial" panose="020B0604020202020204" pitchFamily="34" charset="0"/>
                      </a:endParaRPr>
                    </a:p>
                  </a:txBody>
                  <a:tcPr marL="4424" marR="4424" marT="4424" marB="0" anchor="b"/>
                </a:tc>
                <a:extLst>
                  <a:ext uri="{0D108BD9-81ED-4DB2-BD59-A6C34878D82A}">
                    <a16:rowId xmlns:a16="http://schemas.microsoft.com/office/drawing/2014/main" val="27335776"/>
                  </a:ext>
                </a:extLst>
              </a:tr>
            </a:tbl>
          </a:graphicData>
        </a:graphic>
      </p:graphicFrame>
    </p:spTree>
    <p:extLst>
      <p:ext uri="{BB962C8B-B14F-4D97-AF65-F5344CB8AC3E}">
        <p14:creationId xmlns:p14="http://schemas.microsoft.com/office/powerpoint/2010/main" val="1619869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9F05-6AA1-737B-4813-31D1DE4E67D5}"/>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927D0BB0-1229-177E-2352-765B98D3F38E}"/>
              </a:ext>
            </a:extLst>
          </p:cNvPr>
          <p:cNvSpPr txBox="1"/>
          <p:nvPr/>
        </p:nvSpPr>
        <p:spPr>
          <a:xfrm>
            <a:off x="1752600" y="266700"/>
            <a:ext cx="12420600" cy="1077218"/>
          </a:xfrm>
          <a:prstGeom prst="rect">
            <a:avLst/>
          </a:prstGeom>
        </p:spPr>
        <p:txBody>
          <a:bodyPr wrap="square" lIns="0" tIns="0" rIns="0" bIns="0" rtlCol="0" anchor="t">
            <a:spAutoFit/>
          </a:bodyPr>
          <a:lstStyle/>
          <a:p>
            <a:pPr>
              <a:lnSpc>
                <a:spcPts val="8400"/>
              </a:lnSpc>
            </a:pPr>
            <a:r>
              <a:rPr lang="vi-VN" sz="7000" b="1" dirty="0">
                <a:solidFill>
                  <a:schemeClr val="tx2"/>
                </a:solidFill>
                <a:latin typeface="Cabin Bold"/>
                <a:ea typeface="Cabin Bold"/>
                <a:cs typeface="Cabin Bold"/>
                <a:sym typeface="Cabin Bold"/>
              </a:rPr>
              <a:t>TEST REPORT</a:t>
            </a:r>
          </a:p>
        </p:txBody>
      </p:sp>
      <p:graphicFrame>
        <p:nvGraphicFramePr>
          <p:cNvPr id="2" name="Table 1">
            <a:extLst>
              <a:ext uri="{FF2B5EF4-FFF2-40B4-BE49-F238E27FC236}">
                <a16:creationId xmlns:a16="http://schemas.microsoft.com/office/drawing/2014/main" id="{61611CC3-B9C3-8CAE-8B17-D7DAE2847CC1}"/>
              </a:ext>
            </a:extLst>
          </p:cNvPr>
          <p:cNvGraphicFramePr>
            <a:graphicFrameLocks noGrp="1"/>
          </p:cNvGraphicFramePr>
          <p:nvPr>
            <p:extLst>
              <p:ext uri="{D42A27DB-BD31-4B8C-83A1-F6EECF244321}">
                <p14:modId xmlns:p14="http://schemas.microsoft.com/office/powerpoint/2010/main" val="2397544363"/>
              </p:ext>
            </p:extLst>
          </p:nvPr>
        </p:nvGraphicFramePr>
        <p:xfrm>
          <a:off x="571500" y="1371597"/>
          <a:ext cx="17716501" cy="8874835"/>
        </p:xfrm>
        <a:graphic>
          <a:graphicData uri="http://schemas.openxmlformats.org/drawingml/2006/table">
            <a:tbl>
              <a:tblPr>
                <a:tableStyleId>{3C2FFA5D-87B4-456A-9821-1D502468CF0F}</a:tableStyleId>
              </a:tblPr>
              <a:tblGrid>
                <a:gridCol w="3036360">
                  <a:extLst>
                    <a:ext uri="{9D8B030D-6E8A-4147-A177-3AD203B41FA5}">
                      <a16:colId xmlns:a16="http://schemas.microsoft.com/office/drawing/2014/main" val="1089004221"/>
                    </a:ext>
                  </a:extLst>
                </a:gridCol>
                <a:gridCol w="4186781">
                  <a:extLst>
                    <a:ext uri="{9D8B030D-6E8A-4147-A177-3AD203B41FA5}">
                      <a16:colId xmlns:a16="http://schemas.microsoft.com/office/drawing/2014/main" val="1465529490"/>
                    </a:ext>
                  </a:extLst>
                </a:gridCol>
                <a:gridCol w="2017954">
                  <a:extLst>
                    <a:ext uri="{9D8B030D-6E8A-4147-A177-3AD203B41FA5}">
                      <a16:colId xmlns:a16="http://schemas.microsoft.com/office/drawing/2014/main" val="148065109"/>
                    </a:ext>
                  </a:extLst>
                </a:gridCol>
                <a:gridCol w="2319706">
                  <a:extLst>
                    <a:ext uri="{9D8B030D-6E8A-4147-A177-3AD203B41FA5}">
                      <a16:colId xmlns:a16="http://schemas.microsoft.com/office/drawing/2014/main" val="1459103556"/>
                    </a:ext>
                  </a:extLst>
                </a:gridCol>
                <a:gridCol w="905250">
                  <a:extLst>
                    <a:ext uri="{9D8B030D-6E8A-4147-A177-3AD203B41FA5}">
                      <a16:colId xmlns:a16="http://schemas.microsoft.com/office/drawing/2014/main" val="261652044"/>
                    </a:ext>
                  </a:extLst>
                </a:gridCol>
                <a:gridCol w="905250">
                  <a:extLst>
                    <a:ext uri="{9D8B030D-6E8A-4147-A177-3AD203B41FA5}">
                      <a16:colId xmlns:a16="http://schemas.microsoft.com/office/drawing/2014/main" val="3326764783"/>
                    </a:ext>
                  </a:extLst>
                </a:gridCol>
                <a:gridCol w="905250">
                  <a:extLst>
                    <a:ext uri="{9D8B030D-6E8A-4147-A177-3AD203B41FA5}">
                      <a16:colId xmlns:a16="http://schemas.microsoft.com/office/drawing/2014/main" val="2586915662"/>
                    </a:ext>
                  </a:extLst>
                </a:gridCol>
                <a:gridCol w="905250">
                  <a:extLst>
                    <a:ext uri="{9D8B030D-6E8A-4147-A177-3AD203B41FA5}">
                      <a16:colId xmlns:a16="http://schemas.microsoft.com/office/drawing/2014/main" val="3293354047"/>
                    </a:ext>
                  </a:extLst>
                </a:gridCol>
                <a:gridCol w="1239299">
                  <a:extLst>
                    <a:ext uri="{9D8B030D-6E8A-4147-A177-3AD203B41FA5}">
                      <a16:colId xmlns:a16="http://schemas.microsoft.com/office/drawing/2014/main" val="697615605"/>
                    </a:ext>
                  </a:extLst>
                </a:gridCol>
                <a:gridCol w="1219200">
                  <a:extLst>
                    <a:ext uri="{9D8B030D-6E8A-4147-A177-3AD203B41FA5}">
                      <a16:colId xmlns:a16="http://schemas.microsoft.com/office/drawing/2014/main" val="419850299"/>
                    </a:ext>
                  </a:extLst>
                </a:gridCol>
                <a:gridCol w="76201">
                  <a:extLst>
                    <a:ext uri="{9D8B030D-6E8A-4147-A177-3AD203B41FA5}">
                      <a16:colId xmlns:a16="http://schemas.microsoft.com/office/drawing/2014/main" val="1636630960"/>
                    </a:ext>
                  </a:extLst>
                </a:gridCol>
              </a:tblGrid>
              <a:tr h="731776">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Project Name</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u="none" strike="noStrike" dirty="0">
                          <a:effectLst/>
                          <a:latin typeface="Arial" panose="020B0604020202020204" pitchFamily="34" charset="0"/>
                          <a:cs typeface="Arial" panose="020B0604020202020204" pitchFamily="34" charset="0"/>
                        </a:rPr>
                        <a:t>Smart Traffic Light Real-Time Testing (ESP32 - </a:t>
                      </a:r>
                      <a:r>
                        <a:rPr lang="en-US" sz="2000" u="none" strike="noStrike" dirty="0" err="1">
                          <a:effectLst/>
                          <a:latin typeface="Arial" panose="020B0604020202020204" pitchFamily="34" charset="0"/>
                          <a:cs typeface="Arial" panose="020B0604020202020204" pitchFamily="34" charset="0"/>
                        </a:rPr>
                        <a:t>Wokwi</a:t>
                      </a:r>
                      <a:r>
                        <a:rPr lang="en-US" sz="2000" u="none" strike="noStrike" dirty="0">
                          <a:effectLst/>
                          <a:latin typeface="Arial" panose="020B0604020202020204" pitchFamily="34" charset="0"/>
                          <a:cs typeface="Arial" panose="020B0604020202020204" pitchFamily="34" charset="0"/>
                        </a:rPr>
                        <a:t>)</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Creator</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u="none" strike="noStrike" dirty="0">
                          <a:effectLst/>
                          <a:latin typeface="Arial" panose="020B0604020202020204" pitchFamily="34" charset="0"/>
                          <a:cs typeface="Arial" panose="020B0604020202020204" pitchFamily="34" charset="0"/>
                        </a:rPr>
                        <a:t>Khánh Ngọc</a:t>
                      </a:r>
                      <a:endParaRPr lang="en-US" sz="2000" b="0" i="0" u="none" strike="noStrike" dirty="0">
                        <a:solidFill>
                          <a:srgbClr val="444746"/>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2168558202"/>
                  </a:ext>
                </a:extLst>
              </a:tr>
              <a:tr h="388671">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Group ID</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11_ĐH_CNPM2</a:t>
                      </a:r>
                      <a:endParaRPr lang="en-US" sz="2000" b="0" i="0" u="none" strike="noStrike">
                        <a:solidFill>
                          <a:srgbClr val="444746"/>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Approver</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u="none" strike="noStrike">
                          <a:effectLst/>
                          <a:latin typeface="Arial" panose="020B0604020202020204" pitchFamily="34" charset="0"/>
                          <a:cs typeface="Arial" panose="020B0604020202020204" pitchFamily="34" charset="0"/>
                        </a:rPr>
                        <a:t>Khánh Ngọc</a:t>
                      </a:r>
                      <a:endParaRPr lang="en-US" sz="2000" b="0" i="0" u="none" strike="noStrike">
                        <a:solidFill>
                          <a:srgbClr val="444746"/>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3408258240"/>
                  </a:ext>
                </a:extLst>
              </a:tr>
              <a:tr h="2672574">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Note</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r>
                        <a:rPr lang="en-US" sz="2000" u="none" strike="noStrike" dirty="0" err="1">
                          <a:effectLst/>
                          <a:latin typeface="Arial" panose="020B0604020202020204" pitchFamily="34" charset="0"/>
                          <a:cs typeface="Arial" panose="020B0604020202020204" pitchFamily="34" charset="0"/>
                        </a:rPr>
                        <a:t>Kiểm</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thử</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hệ</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thống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đèn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giao</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thông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thông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minh</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thời</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gian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thực</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Xác</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minh</a:t>
                      </a:r>
                      <a:r>
                        <a:rPr lang="en-US" sz="2000" u="none" strike="noStrike" dirty="0">
                          <a:effectLst/>
                          <a:latin typeface="Arial" panose="020B0604020202020204" pitchFamily="34" charset="0"/>
                          <a:cs typeface="Arial" panose="020B0604020202020204" pitchFamily="34" charset="0"/>
                        </a:rPr>
                        <a:t> chu </a:t>
                      </a:r>
                      <a:r>
                        <a:rPr lang="en-US" sz="2000" u="none" strike="noStrike" dirty="0" err="1">
                          <a:effectLst/>
                          <a:latin typeface="Arial" panose="020B0604020202020204" pitchFamily="34" charset="0"/>
                          <a:cs typeface="Arial" panose="020B0604020202020204" pitchFamily="34" charset="0"/>
                        </a:rPr>
                        <a:t>kỳ</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hoạt</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động</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phản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hồi</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nút</a:t>
                      </a:r>
                      <a:r>
                        <a:rPr lang="en-US" sz="2000" u="none" strike="noStrike" dirty="0">
                          <a:effectLst/>
                          <a:latin typeface="Arial" panose="020B0604020202020204" pitchFamily="34" charset="0"/>
                          <a:cs typeface="Arial" panose="020B0604020202020204" pitchFamily="34" charset="0"/>
                        </a:rPr>
                        <a:t> pedestrian </a:t>
                      </a:r>
                      <a:r>
                        <a:rPr lang="en-US" sz="2000" u="none" strike="noStrike" dirty="0" err="1">
                          <a:effectLst/>
                          <a:latin typeface="Arial" panose="020B0604020202020204" pitchFamily="34" charset="0"/>
                          <a:cs typeface="Arial" panose="020B0604020202020204" pitchFamily="34" charset="0"/>
                        </a:rPr>
                        <a:t>và</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giá</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trị</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biên</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thời</a:t>
                      </a:r>
                      <a:r>
                        <a:rPr lang="en-US" sz="2000" u="none" strike="noStrike" dirty="0">
                          <a:effectLst/>
                          <a:latin typeface="Arial" panose="020B0604020202020204" pitchFamily="34" charset="0"/>
                          <a:cs typeface="Arial" panose="020B0604020202020204" pitchFamily="34" charset="0"/>
                        </a:rPr>
                        <a:t> </a:t>
                      </a:r>
                      <a:r>
                        <a:rPr lang="en-US" sz="2000" u="none" strike="noStrike" dirty="0" err="1">
                          <a:effectLst/>
                          <a:latin typeface="Arial" panose="020B0604020202020204" pitchFamily="34" charset="0"/>
                          <a:cs typeface="Arial" panose="020B0604020202020204" pitchFamily="34" charset="0"/>
                        </a:rPr>
                        <a:t>gian</a:t>
                      </a:r>
                      <a:r>
                        <a:rPr lang="en-US" sz="2000" u="none" strike="noStrike" dirty="0">
                          <a:effectLst/>
                          <a:latin typeface="Arial" panose="020B0604020202020204" pitchFamily="34" charset="0"/>
                          <a:cs typeface="Arial" panose="020B0604020202020204" pitchFamily="34" charset="0"/>
                        </a:rPr>
                        <a:t>.</a:t>
                      </a:r>
                      <a:endParaRPr lang="en-US" sz="2000" b="0" i="1"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rtl="0" fontAlgn="ctr">
                        <a:buNone/>
                      </a:pP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2797681582"/>
                  </a:ext>
                </a:extLst>
              </a:tr>
              <a:tr h="388671">
                <a:tc>
                  <a:txBody>
                    <a:bodyPr/>
                    <a:lstStyle/>
                    <a:p>
                      <a:pPr algn="l" fontAlgn="b">
                        <a:buNone/>
                      </a:pP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1233711109"/>
                  </a:ext>
                </a:extLst>
              </a:tr>
              <a:tr h="388671">
                <a:tc>
                  <a:txBody>
                    <a:bodyPr/>
                    <a:lstStyle/>
                    <a:p>
                      <a:pPr algn="l" rtl="0" fontAlgn="ctr">
                        <a:buNone/>
                      </a:pPr>
                      <a:r>
                        <a:rPr lang="en-US" sz="2000" b="1" u="none" strike="noStrike" dirty="0">
                          <a:effectLst/>
                          <a:latin typeface="Arial" panose="020B0604020202020204" pitchFamily="34" charset="0"/>
                          <a:cs typeface="Arial" panose="020B0604020202020204" pitchFamily="34" charset="0"/>
                        </a:rPr>
                        <a:t>Date:</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r" fontAlgn="b">
                        <a:buNone/>
                      </a:pPr>
                      <a:r>
                        <a:rPr lang="en-US" sz="2000" u="none" strike="noStrike">
                          <a:effectLst/>
                          <a:latin typeface="Arial" panose="020B0604020202020204" pitchFamily="34" charset="0"/>
                          <a:cs typeface="Arial" panose="020B0604020202020204" pitchFamily="34" charset="0"/>
                        </a:rPr>
                        <a:t>1/29/2026</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31175858"/>
                  </a:ext>
                </a:extLst>
              </a:tr>
              <a:tr h="388671">
                <a:tc>
                  <a:txBody>
                    <a:bodyPr/>
                    <a:lstStyle/>
                    <a:p>
                      <a:pPr algn="l" rtl="0" fontAlgn="ctr">
                        <a:buNone/>
                      </a:pPr>
                      <a:r>
                        <a:rPr lang="en-US" sz="2000" u="none" strike="noStrike" dirty="0">
                          <a:effectLst/>
                          <a:latin typeface="Arial" panose="020B0604020202020204" pitchFamily="34" charset="0"/>
                          <a:cs typeface="Arial" panose="020B0604020202020204" pitchFamily="34" charset="0"/>
                        </a:rPr>
                        <a:t>Test Coverage Summary</a:t>
                      </a:r>
                      <a:endParaRPr lang="en-US" sz="2000" b="1"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2471988410"/>
                  </a:ext>
                </a:extLst>
              </a:tr>
              <a:tr h="388671">
                <a:tc>
                  <a:txBody>
                    <a:bodyPr/>
                    <a:lstStyle/>
                    <a:p>
                      <a:pPr algn="l" rtl="0" fontAlgn="ctr">
                        <a:buNone/>
                      </a:pPr>
                      <a:r>
                        <a:rPr lang="en-US" sz="2000" u="none" strike="noStrike" dirty="0">
                          <a:effectLst/>
                          <a:latin typeface="Arial" panose="020B0604020202020204" pitchFamily="34" charset="0"/>
                          <a:cs typeface="Arial" panose="020B0604020202020204" pitchFamily="34" charset="0"/>
                        </a:rPr>
                        <a:t>Test Coverage: 100%</a:t>
                      </a:r>
                      <a:endParaRPr lang="en-US" sz="2000" b="0" i="0" u="none" strike="noStrike" dirty="0">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1466608245"/>
                  </a:ext>
                </a:extLst>
              </a:tr>
              <a:tr h="388671">
                <a:tc>
                  <a:txBody>
                    <a:bodyPr/>
                    <a:lstStyle/>
                    <a:p>
                      <a:pPr algn="l" rtl="0" fontAlgn="ctr">
                        <a:buNone/>
                      </a:pPr>
                      <a:r>
                        <a:rPr lang="en-US" sz="2000" u="none" strike="noStrike">
                          <a:effectLst/>
                          <a:latin typeface="Arial" panose="020B0604020202020204" pitchFamily="34" charset="0"/>
                          <a:cs typeface="Arial" panose="020B0604020202020204" pitchFamily="34" charset="0"/>
                        </a:rPr>
                        <a:t>Successful Coverage: 78%</a:t>
                      </a:r>
                      <a:endParaRPr lang="en-US" sz="2000" b="0" i="0" u="none" strike="noStrike">
                        <a:solidFill>
                          <a:srgbClr val="1F1F1F"/>
                        </a:solidFill>
                        <a:effectLst/>
                        <a:latin typeface="Arial" panose="020B0604020202020204" pitchFamily="34" charset="0"/>
                        <a:cs typeface="Arial" panose="020B0604020202020204" pitchFamily="34" charset="0"/>
                      </a:endParaRPr>
                    </a:p>
                  </a:txBody>
                  <a:tcPr marL="62437"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2055429604"/>
                  </a:ext>
                </a:extLst>
              </a:tr>
              <a:tr h="388671">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542957720"/>
                  </a:ext>
                </a:extLst>
              </a:tr>
              <a:tr h="968972">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No.</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Items</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Tested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Passed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Failed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Blocked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Skipped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Not yet tested</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Total</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Test Coverage</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1819681413"/>
                  </a:ext>
                </a:extLst>
              </a:tr>
              <a:tr h="388671">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1</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BU_001 – Real-time System Test</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100%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3287645542"/>
                  </a:ext>
                </a:extLst>
              </a:tr>
              <a:tr h="388671">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2</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ctr">
                        <a:buNone/>
                      </a:pPr>
                      <a:r>
                        <a:rPr lang="en-US" sz="2000" u="none" strike="noStrike">
                          <a:effectLst/>
                          <a:latin typeface="Arial" panose="020B0604020202020204" pitchFamily="34" charset="0"/>
                          <a:cs typeface="Arial" panose="020B0604020202020204" pitchFamily="34" charset="0"/>
                        </a:rPr>
                        <a:t>BU_002 – Boundary Value Timer</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4</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100%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3107527145"/>
                  </a:ext>
                </a:extLst>
              </a:tr>
              <a:tr h="388671">
                <a:tc>
                  <a:txBody>
                    <a:bodyPr/>
                    <a:lstStyle/>
                    <a:p>
                      <a:pPr algn="ctr" fontAlgn="ctr">
                        <a:buNone/>
                      </a:pPr>
                      <a:r>
                        <a:rPr lang="en-US" sz="2000" u="none" strike="noStrike" dirty="0">
                          <a:effectLst/>
                          <a:latin typeface="Arial" panose="020B0604020202020204" pitchFamily="34" charset="0"/>
                          <a:cs typeface="Arial" panose="020B0604020202020204" pitchFamily="34" charset="0"/>
                        </a:rPr>
                        <a:t>3</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ctr">
                        <a:buNone/>
                      </a:pPr>
                      <a:r>
                        <a:rPr lang="en-US" sz="2000" u="none" strike="noStrike" dirty="0">
                          <a:effectLst/>
                          <a:latin typeface="Arial" panose="020B0604020202020204" pitchFamily="34" charset="0"/>
                          <a:cs typeface="Arial" panose="020B0604020202020204" pitchFamily="34" charset="0"/>
                        </a:rPr>
                        <a:t>BU_003 – Timer Condition Test</a:t>
                      </a: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5</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100%</a:t>
                      </a: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b">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3740953122"/>
                  </a:ext>
                </a:extLst>
              </a:tr>
              <a:tr h="388671">
                <a:tc>
                  <a:txBody>
                    <a:bodyPr/>
                    <a:lstStyle/>
                    <a:p>
                      <a:pPr algn="ctr" fontAlgn="ctr">
                        <a:buNone/>
                      </a:pPr>
                      <a:r>
                        <a:rPr lang="en-US" sz="2000" b="1" u="none" strike="noStrike" dirty="0">
                          <a:effectLst/>
                          <a:latin typeface="Arial" panose="020B0604020202020204" pitchFamily="34" charset="0"/>
                          <a:cs typeface="Arial" panose="020B0604020202020204" pitchFamily="34" charset="0"/>
                        </a:rPr>
                        <a:t>Total</a:t>
                      </a: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ctr" fontAlgn="ctr">
                        <a:buNone/>
                      </a:pPr>
                      <a:endParaRPr lang="en-US" sz="2000" b="1"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14</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14</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0</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13</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r" fontAlgn="ctr">
                        <a:buNone/>
                      </a:pPr>
                      <a:r>
                        <a:rPr lang="en-US" sz="2000" u="none" strike="noStrike">
                          <a:effectLst/>
                          <a:latin typeface="Arial" panose="020B0604020202020204" pitchFamily="34" charset="0"/>
                          <a:cs typeface="Arial" panose="020B0604020202020204" pitchFamily="34" charset="0"/>
                        </a:rPr>
                        <a:t>100%</a:t>
                      </a:r>
                      <a:endParaRPr lang="en-US" sz="2000" b="1"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ctr">
                        <a:buNone/>
                      </a:pPr>
                      <a:endParaRPr lang="en-US" sz="2000" b="0" i="0" u="none" strike="noStrike">
                        <a:solidFill>
                          <a:srgbClr val="000000"/>
                        </a:solidFill>
                        <a:effectLst/>
                        <a:latin typeface="Arial" panose="020B0604020202020204" pitchFamily="34" charset="0"/>
                        <a:cs typeface="Arial" panose="020B0604020202020204" pitchFamily="34" charset="0"/>
                      </a:endParaRPr>
                    </a:p>
                  </a:txBody>
                  <a:tcPr marL="5203" marR="5203" marT="5203" marB="0" anchor="ctr"/>
                </a:tc>
                <a:tc>
                  <a:txBody>
                    <a:bodyPr/>
                    <a:lstStyle/>
                    <a:p>
                      <a:pPr algn="l" fontAlgn="b">
                        <a:buNone/>
                      </a:pPr>
                      <a:endParaRPr lang="en-US" sz="2000" b="0" i="0" u="none" strike="noStrike" dirty="0">
                        <a:solidFill>
                          <a:srgbClr val="000000"/>
                        </a:solidFill>
                        <a:effectLst/>
                        <a:latin typeface="Arial" panose="020B0604020202020204" pitchFamily="34" charset="0"/>
                        <a:cs typeface="Arial" panose="020B0604020202020204" pitchFamily="34" charset="0"/>
                      </a:endParaRPr>
                    </a:p>
                  </a:txBody>
                  <a:tcPr marL="5203" marR="5203" marT="5203" marB="0" anchor="b"/>
                </a:tc>
                <a:extLst>
                  <a:ext uri="{0D108BD9-81ED-4DB2-BD59-A6C34878D82A}">
                    <a16:rowId xmlns:a16="http://schemas.microsoft.com/office/drawing/2014/main" val="3402618964"/>
                  </a:ext>
                </a:extLst>
              </a:tr>
            </a:tbl>
          </a:graphicData>
        </a:graphic>
      </p:graphicFrame>
    </p:spTree>
    <p:extLst>
      <p:ext uri="{BB962C8B-B14F-4D97-AF65-F5344CB8AC3E}">
        <p14:creationId xmlns:p14="http://schemas.microsoft.com/office/powerpoint/2010/main" val="2258708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5" name="TextBox 5"/>
          <p:cNvSpPr txBox="1"/>
          <p:nvPr/>
        </p:nvSpPr>
        <p:spPr>
          <a:xfrm>
            <a:off x="914400" y="495300"/>
            <a:ext cx="10100795" cy="1077218"/>
          </a:xfrm>
          <a:prstGeom prst="rect">
            <a:avLst/>
          </a:prstGeom>
        </p:spPr>
        <p:txBody>
          <a:bodyPr wrap="square" lIns="0" tIns="0" rIns="0" bIns="0" rtlCol="0" anchor="t">
            <a:spAutoFit/>
          </a:bodyPr>
          <a:lstStyle/>
          <a:p>
            <a:pPr algn="l">
              <a:lnSpc>
                <a:spcPts val="8400"/>
              </a:lnSpc>
            </a:pPr>
            <a:r>
              <a:rPr lang="vi-VN" sz="7000" b="1" dirty="0">
                <a:solidFill>
                  <a:srgbClr val="01003B"/>
                </a:solidFill>
                <a:latin typeface="Cabin Bold"/>
                <a:ea typeface="Cabin Bold"/>
                <a:cs typeface="Cabin Bold"/>
                <a:sym typeface="Cabin Bold"/>
              </a:rPr>
              <a:t>KẾT QUẢ THỰC THI</a:t>
            </a:r>
            <a:endParaRPr lang="en-US" sz="7000" b="1" dirty="0">
              <a:solidFill>
                <a:srgbClr val="01003B"/>
              </a:solidFill>
              <a:latin typeface="Cabin Bold"/>
              <a:ea typeface="Cabin Bold"/>
              <a:cs typeface="Cabin Bold"/>
              <a:sym typeface="Cabin Bold"/>
            </a:endParaRPr>
          </a:p>
        </p:txBody>
      </p:sp>
      <p:sp>
        <p:nvSpPr>
          <p:cNvPr id="9" name="Freeform 2">
            <a:extLst>
              <a:ext uri="{FF2B5EF4-FFF2-40B4-BE49-F238E27FC236}">
                <a16:creationId xmlns:a16="http://schemas.microsoft.com/office/drawing/2014/main" id="{D8383153-3328-B18C-1F98-3EDB3D3CE080}"/>
              </a:ext>
            </a:extLst>
          </p:cNvPr>
          <p:cNvSpPr/>
          <p:nvPr/>
        </p:nvSpPr>
        <p:spPr>
          <a:xfrm rot="-2415644">
            <a:off x="8510757" y="4829947"/>
            <a:ext cx="15465517" cy="5595705"/>
          </a:xfrm>
          <a:custGeom>
            <a:avLst/>
            <a:gdLst/>
            <a:ahLst/>
            <a:cxnLst/>
            <a:rect l="l" t="t" r="r" b="b"/>
            <a:pathLst>
              <a:path w="15465517" h="5595705">
                <a:moveTo>
                  <a:pt x="0" y="0"/>
                </a:moveTo>
                <a:lnTo>
                  <a:pt x="15465517" y="0"/>
                </a:lnTo>
                <a:lnTo>
                  <a:pt x="15465517"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aphicFrame>
        <p:nvGraphicFramePr>
          <p:cNvPr id="2" name="Table 1">
            <a:extLst>
              <a:ext uri="{FF2B5EF4-FFF2-40B4-BE49-F238E27FC236}">
                <a16:creationId xmlns:a16="http://schemas.microsoft.com/office/drawing/2014/main" id="{A67ACE1D-07DD-DB3A-6D19-19FA7FA5E1D0}"/>
              </a:ext>
            </a:extLst>
          </p:cNvPr>
          <p:cNvGraphicFramePr>
            <a:graphicFrameLocks noGrp="1"/>
          </p:cNvGraphicFramePr>
          <p:nvPr>
            <p:extLst>
              <p:ext uri="{D42A27DB-BD31-4B8C-83A1-F6EECF244321}">
                <p14:modId xmlns:p14="http://schemas.microsoft.com/office/powerpoint/2010/main" val="4185403564"/>
              </p:ext>
            </p:extLst>
          </p:nvPr>
        </p:nvGraphicFramePr>
        <p:xfrm>
          <a:off x="1143000" y="1856994"/>
          <a:ext cx="10972800" cy="2392840"/>
        </p:xfrm>
        <a:graphic>
          <a:graphicData uri="http://schemas.openxmlformats.org/drawingml/2006/table">
            <a:tbl>
              <a:tblPr>
                <a:tableStyleId>{3C2FFA5D-87B4-456A-9821-1D502468CF0F}</a:tableStyleId>
              </a:tblPr>
              <a:tblGrid>
                <a:gridCol w="3657600">
                  <a:extLst>
                    <a:ext uri="{9D8B030D-6E8A-4147-A177-3AD203B41FA5}">
                      <a16:colId xmlns:a16="http://schemas.microsoft.com/office/drawing/2014/main" val="2447999172"/>
                    </a:ext>
                  </a:extLst>
                </a:gridCol>
                <a:gridCol w="3657600">
                  <a:extLst>
                    <a:ext uri="{9D8B030D-6E8A-4147-A177-3AD203B41FA5}">
                      <a16:colId xmlns:a16="http://schemas.microsoft.com/office/drawing/2014/main" val="1614223475"/>
                    </a:ext>
                  </a:extLst>
                </a:gridCol>
                <a:gridCol w="3657600">
                  <a:extLst>
                    <a:ext uri="{9D8B030D-6E8A-4147-A177-3AD203B41FA5}">
                      <a16:colId xmlns:a16="http://schemas.microsoft.com/office/drawing/2014/main" val="2560366853"/>
                    </a:ext>
                  </a:extLst>
                </a:gridCol>
              </a:tblGrid>
              <a:tr h="598210">
                <a:tc>
                  <a:txBody>
                    <a:bodyPr/>
                    <a:lstStyle/>
                    <a:p>
                      <a:pPr>
                        <a:buNone/>
                      </a:pPr>
                      <a:r>
                        <a:rPr lang="en-US" sz="2000" b="1" dirty="0">
                          <a:latin typeface="Arial" panose="020B0604020202020204" pitchFamily="34" charset="0"/>
                          <a:cs typeface="Arial" panose="020B0604020202020204" pitchFamily="34" charset="0"/>
                        </a:rPr>
                        <a:t>Test Case</a:t>
                      </a:r>
                    </a:p>
                  </a:txBody>
                  <a:tcPr anchor="ctr"/>
                </a:tc>
                <a:tc>
                  <a:txBody>
                    <a:bodyPr/>
                    <a:lstStyle/>
                    <a:p>
                      <a:pPr>
                        <a:buNone/>
                      </a:pPr>
                      <a:r>
                        <a:rPr lang="en-US" sz="2000" b="1" dirty="0" err="1">
                          <a:latin typeface="Arial" panose="020B0604020202020204" pitchFamily="34" charset="0"/>
                          <a:cs typeface="Arial" panose="020B0604020202020204" pitchFamily="34" charset="0"/>
                        </a:rPr>
                        <a:t>Mô</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tả</a:t>
                      </a:r>
                      <a:endParaRPr lang="en-US" sz="2000" b="1" dirty="0">
                        <a:latin typeface="Arial" panose="020B0604020202020204" pitchFamily="34" charset="0"/>
                        <a:cs typeface="Arial" panose="020B0604020202020204" pitchFamily="34" charset="0"/>
                      </a:endParaRPr>
                    </a:p>
                  </a:txBody>
                  <a:tcPr anchor="ctr"/>
                </a:tc>
                <a:tc>
                  <a:txBody>
                    <a:bodyPr/>
                    <a:lstStyle/>
                    <a:p>
                      <a:pPr>
                        <a:buNone/>
                      </a:pPr>
                      <a:r>
                        <a:rPr lang="en-US" sz="2000" b="1" dirty="0" err="1">
                          <a:latin typeface="Arial" panose="020B0604020202020204" pitchFamily="34" charset="0"/>
                          <a:cs typeface="Arial" panose="020B0604020202020204" pitchFamily="34" charset="0"/>
                        </a:rPr>
                        <a:t>Kết</a:t>
                      </a:r>
                      <a:r>
                        <a:rPr lang="en-US" sz="2000" b="1" dirty="0">
                          <a:latin typeface="Arial" panose="020B0604020202020204" pitchFamily="34" charset="0"/>
                          <a:cs typeface="Arial" panose="020B0604020202020204" pitchFamily="34" charset="0"/>
                        </a:rPr>
                        <a:t> </a:t>
                      </a:r>
                      <a:r>
                        <a:rPr lang="en-US" sz="2000" b="1" dirty="0" err="1">
                          <a:latin typeface="Arial" panose="020B0604020202020204" pitchFamily="34" charset="0"/>
                          <a:cs typeface="Arial" panose="020B0604020202020204" pitchFamily="34" charset="0"/>
                        </a:rPr>
                        <a:t>quả</a:t>
                      </a:r>
                      <a:endParaRPr lang="en-US" sz="2000" b="1"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510390851"/>
                  </a:ext>
                </a:extLst>
              </a:tr>
              <a:tr h="598210">
                <a:tc>
                  <a:txBody>
                    <a:bodyPr/>
                    <a:lstStyle/>
                    <a:p>
                      <a:pPr>
                        <a:buNone/>
                      </a:pPr>
                      <a:r>
                        <a:rPr lang="en-US" sz="2000">
                          <a:latin typeface="Arial" panose="020B0604020202020204" pitchFamily="34" charset="0"/>
                          <a:cs typeface="Arial" panose="020B0604020202020204" pitchFamily="34" charset="0"/>
                        </a:rPr>
                        <a:t>BU_001</a:t>
                      </a:r>
                    </a:p>
                  </a:txBody>
                  <a:tcPr anchor="ctr"/>
                </a:tc>
                <a:tc>
                  <a:txBody>
                    <a:bodyPr/>
                    <a:lstStyle/>
                    <a:p>
                      <a:pPr>
                        <a:buNone/>
                      </a:pPr>
                      <a:r>
                        <a:rPr lang="en-US" sz="2000">
                          <a:latin typeface="Arial" panose="020B0604020202020204" pitchFamily="34" charset="0"/>
                          <a:cs typeface="Arial" panose="020B0604020202020204" pitchFamily="34" charset="0"/>
                        </a:rPr>
                        <a:t>Chu kỳ hệ thống</a:t>
                      </a:r>
                    </a:p>
                  </a:txBody>
                  <a:tcPr anchor="ctr"/>
                </a:tc>
                <a:tc>
                  <a:txBody>
                    <a:bodyPr/>
                    <a:lstStyle/>
                    <a:p>
                      <a:pPr>
                        <a:buNone/>
                      </a:pPr>
                      <a:r>
                        <a:rPr lang="en-US" sz="2000" dirty="0">
                          <a:latin typeface="Arial" panose="020B0604020202020204" pitchFamily="34" charset="0"/>
                          <a:cs typeface="Arial" panose="020B0604020202020204" pitchFamily="34" charset="0"/>
                        </a:rPr>
                        <a:t>PASS</a:t>
                      </a:r>
                    </a:p>
                  </a:txBody>
                  <a:tcPr anchor="ctr"/>
                </a:tc>
                <a:extLst>
                  <a:ext uri="{0D108BD9-81ED-4DB2-BD59-A6C34878D82A}">
                    <a16:rowId xmlns:a16="http://schemas.microsoft.com/office/drawing/2014/main" val="1874209367"/>
                  </a:ext>
                </a:extLst>
              </a:tr>
              <a:tr h="598210">
                <a:tc>
                  <a:txBody>
                    <a:bodyPr/>
                    <a:lstStyle/>
                    <a:p>
                      <a:pPr>
                        <a:buNone/>
                      </a:pPr>
                      <a:r>
                        <a:rPr lang="en-US" sz="2000" dirty="0">
                          <a:latin typeface="Arial" panose="020B0604020202020204" pitchFamily="34" charset="0"/>
                          <a:cs typeface="Arial" panose="020B0604020202020204" pitchFamily="34" charset="0"/>
                        </a:rPr>
                        <a:t>BU_002</a:t>
                      </a:r>
                    </a:p>
                  </a:txBody>
                  <a:tcPr anchor="ctr"/>
                </a:tc>
                <a:tc>
                  <a:txBody>
                    <a:bodyPr/>
                    <a:lstStyle/>
                    <a:p>
                      <a:pPr>
                        <a:buNone/>
                      </a:pPr>
                      <a:r>
                        <a:rPr lang="en-US" sz="2000">
                          <a:latin typeface="Arial" panose="020B0604020202020204" pitchFamily="34" charset="0"/>
                          <a:cs typeface="Arial" panose="020B0604020202020204" pitchFamily="34" charset="0"/>
                        </a:rPr>
                        <a:t>Giá trị biên</a:t>
                      </a:r>
                    </a:p>
                  </a:txBody>
                  <a:tcPr anchor="ctr"/>
                </a:tc>
                <a:tc>
                  <a:txBody>
                    <a:bodyPr/>
                    <a:lstStyle/>
                    <a:p>
                      <a:pPr>
                        <a:buNone/>
                      </a:pPr>
                      <a:r>
                        <a:rPr lang="en-US" sz="2000">
                          <a:latin typeface="Arial" panose="020B0604020202020204" pitchFamily="34" charset="0"/>
                          <a:cs typeface="Arial" panose="020B0604020202020204" pitchFamily="34" charset="0"/>
                        </a:rPr>
                        <a:t>PASS</a:t>
                      </a:r>
                    </a:p>
                  </a:txBody>
                  <a:tcPr anchor="ctr"/>
                </a:tc>
                <a:extLst>
                  <a:ext uri="{0D108BD9-81ED-4DB2-BD59-A6C34878D82A}">
                    <a16:rowId xmlns:a16="http://schemas.microsoft.com/office/drawing/2014/main" val="1571529406"/>
                  </a:ext>
                </a:extLst>
              </a:tr>
              <a:tr h="598210">
                <a:tc>
                  <a:txBody>
                    <a:bodyPr/>
                    <a:lstStyle/>
                    <a:p>
                      <a:pPr>
                        <a:buNone/>
                      </a:pPr>
                      <a:r>
                        <a:rPr lang="en-US" sz="2000">
                          <a:latin typeface="Arial" panose="020B0604020202020204" pitchFamily="34" charset="0"/>
                          <a:cs typeface="Arial" panose="020B0604020202020204" pitchFamily="34" charset="0"/>
                        </a:rPr>
                        <a:t>BU_003</a:t>
                      </a:r>
                    </a:p>
                  </a:txBody>
                  <a:tcPr anchor="ctr"/>
                </a:tc>
                <a:tc>
                  <a:txBody>
                    <a:bodyPr/>
                    <a:lstStyle/>
                    <a:p>
                      <a:pPr>
                        <a:buNone/>
                      </a:pP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kiện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hoạt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động</a:t>
                      </a:r>
                      <a:endParaRPr lang="en-US" sz="2000" dirty="0">
                        <a:latin typeface="Arial" panose="020B0604020202020204" pitchFamily="34" charset="0"/>
                        <a:cs typeface="Arial" panose="020B0604020202020204" pitchFamily="34" charset="0"/>
                      </a:endParaRPr>
                    </a:p>
                  </a:txBody>
                  <a:tcPr anchor="ctr"/>
                </a:tc>
                <a:tc>
                  <a:txBody>
                    <a:bodyPr/>
                    <a:lstStyle/>
                    <a:p>
                      <a:pPr>
                        <a:buNone/>
                      </a:pPr>
                      <a:r>
                        <a:rPr lang="en-US" sz="2000" dirty="0">
                          <a:latin typeface="Arial" panose="020B0604020202020204" pitchFamily="34" charset="0"/>
                          <a:cs typeface="Arial" panose="020B0604020202020204" pitchFamily="34" charset="0"/>
                        </a:rPr>
                        <a:t>PASS</a:t>
                      </a:r>
                    </a:p>
                  </a:txBody>
                  <a:tcPr anchor="ctr"/>
                </a:tc>
                <a:extLst>
                  <a:ext uri="{0D108BD9-81ED-4DB2-BD59-A6C34878D82A}">
                    <a16:rowId xmlns:a16="http://schemas.microsoft.com/office/drawing/2014/main" val="1746243715"/>
                  </a:ext>
                </a:extLst>
              </a:tr>
            </a:tbl>
          </a:graphicData>
        </a:graphic>
      </p:graphicFrame>
      <p:pic>
        <p:nvPicPr>
          <p:cNvPr id="6" name="Picture 5">
            <a:extLst>
              <a:ext uri="{FF2B5EF4-FFF2-40B4-BE49-F238E27FC236}">
                <a16:creationId xmlns:a16="http://schemas.microsoft.com/office/drawing/2014/main" id="{B5A2A69C-54C6-1AF2-9E29-9E4452804D36}"/>
              </a:ext>
            </a:extLst>
          </p:cNvPr>
          <p:cNvPicPr>
            <a:picLocks noChangeAspect="1"/>
          </p:cNvPicPr>
          <p:nvPr/>
        </p:nvPicPr>
        <p:blipFill>
          <a:blip r:embed="rId4"/>
          <a:stretch>
            <a:fillRect/>
          </a:stretch>
        </p:blipFill>
        <p:spPr>
          <a:xfrm>
            <a:off x="4114800" y="4647913"/>
            <a:ext cx="5529757" cy="51437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CE596-6970-AB98-3F39-5150F5D17299}"/>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15576334-50C2-ABB5-C997-0FD949175EB2}"/>
              </a:ext>
            </a:extLst>
          </p:cNvPr>
          <p:cNvSpPr txBox="1"/>
          <p:nvPr/>
        </p:nvSpPr>
        <p:spPr>
          <a:xfrm>
            <a:off x="2209800" y="1409700"/>
            <a:ext cx="10100795" cy="1077218"/>
          </a:xfrm>
          <a:prstGeom prst="rect">
            <a:avLst/>
          </a:prstGeom>
        </p:spPr>
        <p:txBody>
          <a:bodyPr wrap="square" lIns="0" tIns="0" rIns="0" bIns="0" rtlCol="0" anchor="t">
            <a:spAutoFit/>
          </a:bodyPr>
          <a:lstStyle/>
          <a:p>
            <a:pPr>
              <a:lnSpc>
                <a:spcPts val="8400"/>
              </a:lnSpc>
            </a:pPr>
            <a:r>
              <a:rPr lang="vi-VN" sz="7000" b="1" dirty="0">
                <a:solidFill>
                  <a:schemeClr val="tx2"/>
                </a:solidFill>
                <a:latin typeface="Cabin Bold"/>
                <a:ea typeface="Cabin Bold"/>
                <a:cs typeface="Cabin Bold"/>
                <a:sym typeface="Cabin Bold"/>
              </a:rPr>
              <a:t>KẾT LUẬN</a:t>
            </a:r>
            <a:endParaRPr lang="en-US" sz="7000" b="1" dirty="0">
              <a:solidFill>
                <a:schemeClr val="tx2"/>
              </a:solidFill>
              <a:latin typeface="Cabin Bold"/>
              <a:ea typeface="Cabin Bold"/>
              <a:cs typeface="Cabin Bold"/>
              <a:sym typeface="Cabin Bold"/>
            </a:endParaRPr>
          </a:p>
        </p:txBody>
      </p:sp>
      <p:sp>
        <p:nvSpPr>
          <p:cNvPr id="9" name="Freeform 2">
            <a:extLst>
              <a:ext uri="{FF2B5EF4-FFF2-40B4-BE49-F238E27FC236}">
                <a16:creationId xmlns:a16="http://schemas.microsoft.com/office/drawing/2014/main" id="{CF49EDAA-18C8-5D56-0626-FBD86BC33195}"/>
              </a:ext>
            </a:extLst>
          </p:cNvPr>
          <p:cNvSpPr/>
          <p:nvPr/>
        </p:nvSpPr>
        <p:spPr>
          <a:xfrm rot="-2415644">
            <a:off x="8510757" y="4829947"/>
            <a:ext cx="15465517" cy="5595705"/>
          </a:xfrm>
          <a:custGeom>
            <a:avLst/>
            <a:gdLst/>
            <a:ahLst/>
            <a:cxnLst/>
            <a:rect l="l" t="t" r="r" b="b"/>
            <a:pathLst>
              <a:path w="15465517" h="5595705">
                <a:moveTo>
                  <a:pt x="0" y="0"/>
                </a:moveTo>
                <a:lnTo>
                  <a:pt x="15465517" y="0"/>
                </a:lnTo>
                <a:lnTo>
                  <a:pt x="15465517"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7">
            <a:extLst>
              <a:ext uri="{FF2B5EF4-FFF2-40B4-BE49-F238E27FC236}">
                <a16:creationId xmlns:a16="http://schemas.microsoft.com/office/drawing/2014/main" id="{2397D002-A4D1-2B7E-9406-766B3ABD6A36}"/>
              </a:ext>
            </a:extLst>
          </p:cNvPr>
          <p:cNvSpPr txBox="1"/>
          <p:nvPr/>
        </p:nvSpPr>
        <p:spPr>
          <a:xfrm>
            <a:off x="2209800" y="2773620"/>
            <a:ext cx="13563600" cy="5601533"/>
          </a:xfrm>
          <a:prstGeom prst="rect">
            <a:avLst/>
          </a:prstGeom>
        </p:spPr>
        <p:txBody>
          <a:bodyPr wrap="square" lIns="0" tIns="0" rIns="0" bIns="0" rtlCol="0" anchor="t">
            <a:spAutoFit/>
          </a:bodyPr>
          <a:lstStyle/>
          <a:p>
            <a:r>
              <a:rPr lang="en-US" sz="2800" b="1" dirty="0" err="1">
                <a:latin typeface="Arial" panose="020B0604020202020204" pitchFamily="34" charset="0"/>
                <a:cs typeface="Arial" panose="020B0604020202020204" pitchFamily="34" charset="0"/>
              </a:rPr>
              <a:t>Tổng</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kết</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quá</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trình</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kiểm</a:t>
            </a:r>
            <a:r>
              <a:rPr lang="en-US" sz="2800" b="1" dirty="0">
                <a:latin typeface="Arial" panose="020B0604020202020204" pitchFamily="34" charset="0"/>
                <a:cs typeface="Arial" panose="020B0604020202020204" pitchFamily="34" charset="0"/>
              </a:rPr>
              <a:t> </a:t>
            </a:r>
            <a:r>
              <a:rPr lang="en-US" sz="2800" b="1" dirty="0" err="1">
                <a:latin typeface="Arial" panose="020B0604020202020204" pitchFamily="34" charset="0"/>
                <a:cs typeface="Arial" panose="020B0604020202020204" pitchFamily="34" charset="0"/>
              </a:rPr>
              <a:t>thử</a:t>
            </a:r>
            <a:endParaRPr lang="en-US" sz="2800" b="1"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err="1"/>
              <a:t>Áp</a:t>
            </a:r>
            <a:r>
              <a:rPr lang="en-US" sz="2800" dirty="0"/>
              <a:t> </a:t>
            </a:r>
            <a:r>
              <a:rPr lang="en-US" sz="2800" dirty="0" err="1"/>
              <a:t>dụng</a:t>
            </a:r>
            <a:r>
              <a:rPr lang="en-US" sz="2800" dirty="0"/>
              <a:t> Equivalence Partitioning (EP)</a:t>
            </a:r>
          </a:p>
          <a:p>
            <a:pPr marL="457200" indent="-457200">
              <a:buFont typeface="Arial" panose="020B0604020202020204" pitchFamily="34" charset="0"/>
              <a:buChar char="•"/>
            </a:pPr>
            <a:r>
              <a:rPr lang="en-US" sz="2800" dirty="0" err="1"/>
              <a:t>Áp</a:t>
            </a:r>
            <a:r>
              <a:rPr lang="en-US" sz="2800" dirty="0"/>
              <a:t> </a:t>
            </a:r>
            <a:r>
              <a:rPr lang="en-US" sz="2800" dirty="0" err="1"/>
              <a:t>dụng</a:t>
            </a:r>
            <a:r>
              <a:rPr lang="en-US" sz="2800" dirty="0"/>
              <a:t> Boundary Value Analysis (BVA)</a:t>
            </a:r>
          </a:p>
          <a:p>
            <a:pPr marL="457200" indent="-457200">
              <a:buFont typeface="Arial" panose="020B0604020202020204" pitchFamily="34" charset="0"/>
              <a:buChar char="•"/>
            </a:pPr>
            <a:r>
              <a:rPr lang="en-US" sz="2800" dirty="0" err="1"/>
              <a:t>Áp</a:t>
            </a:r>
            <a:r>
              <a:rPr lang="en-US" sz="2800" dirty="0"/>
              <a:t> </a:t>
            </a:r>
            <a:r>
              <a:rPr lang="en-US" sz="2800" dirty="0" err="1"/>
              <a:t>dụng</a:t>
            </a:r>
            <a:r>
              <a:rPr lang="en-US" sz="2800" dirty="0"/>
              <a:t> Decision Table Testing</a:t>
            </a:r>
          </a:p>
          <a:p>
            <a:pPr marL="457200" indent="-457200">
              <a:buFont typeface="Arial" panose="020B0604020202020204" pitchFamily="34" charset="0"/>
              <a:buChar char="•"/>
            </a:pPr>
            <a:r>
              <a:rPr lang="en-US" sz="2800" dirty="0" err="1"/>
              <a:t>Thực</a:t>
            </a:r>
            <a:r>
              <a:rPr lang="en-US" sz="2800" dirty="0"/>
              <a:t> </a:t>
            </a:r>
            <a:r>
              <a:rPr lang="en-US" sz="2800" dirty="0" err="1"/>
              <a:t>hiện</a:t>
            </a:r>
            <a:r>
              <a:rPr lang="en-US" sz="2800" dirty="0"/>
              <a:t> </a:t>
            </a:r>
            <a:r>
              <a:rPr lang="en-US" sz="2800" dirty="0" err="1"/>
              <a:t>kiểm</a:t>
            </a:r>
            <a:r>
              <a:rPr lang="en-US" sz="2800" dirty="0"/>
              <a:t> </a:t>
            </a:r>
            <a:r>
              <a:rPr lang="en-US" sz="2800" dirty="0" err="1"/>
              <a:t>thử</a:t>
            </a:r>
            <a:r>
              <a:rPr lang="en-US" sz="2800" dirty="0"/>
              <a:t> </a:t>
            </a:r>
            <a:r>
              <a:rPr lang="en-US" sz="2800" dirty="0" err="1"/>
              <a:t>hệ</a:t>
            </a:r>
            <a:r>
              <a:rPr lang="en-US" sz="2800" dirty="0"/>
              <a:t> </a:t>
            </a:r>
            <a:r>
              <a:rPr lang="en-US" sz="2800" dirty="0" err="1"/>
              <a:t>thống</a:t>
            </a:r>
            <a:r>
              <a:rPr lang="en-US" sz="2800" dirty="0"/>
              <a:t> Smart Traffic Light Real-Time (ESP32 – </a:t>
            </a:r>
            <a:r>
              <a:rPr lang="en-US" sz="2800" dirty="0" err="1"/>
              <a:t>Wokwi</a:t>
            </a:r>
            <a:r>
              <a:rPr lang="en-US" sz="2800" dirty="0"/>
              <a:t>)</a:t>
            </a:r>
          </a:p>
          <a:p>
            <a:pPr marL="457200" indent="-457200">
              <a:buFont typeface="Arial" panose="020B0604020202020204" pitchFamily="34" charset="0"/>
              <a:buChar char="•"/>
            </a:pPr>
            <a:r>
              <a:rPr lang="en-US" sz="2800" dirty="0" err="1"/>
              <a:t>Ghi</a:t>
            </a:r>
            <a:r>
              <a:rPr lang="en-US" sz="2800" dirty="0"/>
              <a:t> </a:t>
            </a:r>
            <a:r>
              <a:rPr lang="en-US" sz="2800" dirty="0" err="1"/>
              <a:t>nhận</a:t>
            </a:r>
            <a:r>
              <a:rPr lang="en-US" sz="2800" dirty="0"/>
              <a:t> </a:t>
            </a:r>
            <a:r>
              <a:rPr lang="en-US" sz="2800" dirty="0" err="1"/>
              <a:t>và</a:t>
            </a:r>
            <a:r>
              <a:rPr lang="en-US" sz="2800" dirty="0"/>
              <a:t> </a:t>
            </a:r>
            <a:r>
              <a:rPr lang="en-US" sz="2800" dirty="0" err="1"/>
              <a:t>phân</a:t>
            </a:r>
            <a:r>
              <a:rPr lang="en-US" sz="2800" dirty="0"/>
              <a:t> </a:t>
            </a:r>
            <a:r>
              <a:rPr lang="en-US" sz="2800" dirty="0" err="1"/>
              <a:t>tích</a:t>
            </a:r>
            <a:r>
              <a:rPr lang="en-US" sz="2800" dirty="0"/>
              <a:t> </a:t>
            </a:r>
            <a:r>
              <a:rPr lang="en-US" sz="2800" dirty="0" err="1"/>
              <a:t>kết</a:t>
            </a:r>
            <a:r>
              <a:rPr lang="en-US" sz="2800" dirty="0"/>
              <a:t> </a:t>
            </a:r>
            <a:r>
              <a:rPr lang="en-US" sz="2800" dirty="0" err="1"/>
              <a:t>quả</a:t>
            </a:r>
            <a:r>
              <a:rPr lang="en-US" sz="2800" dirty="0"/>
              <a:t> </a:t>
            </a:r>
            <a:r>
              <a:rPr lang="en-US" sz="2800" dirty="0" err="1"/>
              <a:t>theo</a:t>
            </a:r>
            <a:r>
              <a:rPr lang="en-US" sz="2800" dirty="0"/>
              <a:t> Test Report</a:t>
            </a:r>
          </a:p>
          <a:p>
            <a:r>
              <a:rPr lang="vi-VN" sz="2800" b="1" dirty="0"/>
              <a:t>Kết quả đạt được</a:t>
            </a:r>
          </a:p>
          <a:p>
            <a:pPr lvl="0" eaLnBrk="0" fontAlgn="base" hangingPunct="0">
              <a:spcBef>
                <a:spcPct val="0"/>
              </a:spcBef>
              <a:spcAft>
                <a:spcPct val="0"/>
              </a:spcAft>
              <a:buFontTx/>
              <a:buChar char="•"/>
            </a:pPr>
            <a:r>
              <a:rPr lang="vi-VN" altLang="en-US" sz="2800" dirty="0">
                <a:latin typeface="Arial" panose="020B0604020202020204" pitchFamily="34" charset="0"/>
              </a:rPr>
              <a:t> </a:t>
            </a:r>
            <a:r>
              <a:rPr lang="en-US" altLang="en-US" sz="2800" dirty="0" err="1">
                <a:latin typeface="Arial" panose="020B0604020202020204" pitchFamily="34" charset="0"/>
              </a:rPr>
              <a:t>Hệ</a:t>
            </a:r>
            <a:r>
              <a:rPr lang="en-US" altLang="en-US" sz="2800" dirty="0">
                <a:latin typeface="Arial" panose="020B0604020202020204" pitchFamily="34" charset="0"/>
              </a:rPr>
              <a:t> </a:t>
            </a:r>
            <a:r>
              <a:rPr lang="en-US" altLang="en-US" sz="2800" dirty="0" err="1">
                <a:latin typeface="Arial" panose="020B0604020202020204" pitchFamily="34" charset="0"/>
              </a:rPr>
              <a:t>thống</a:t>
            </a:r>
            <a:r>
              <a:rPr lang="en-US" altLang="en-US" sz="2800" dirty="0">
                <a:latin typeface="Arial" panose="020B0604020202020204" pitchFamily="34" charset="0"/>
              </a:rPr>
              <a:t> </a:t>
            </a:r>
            <a:r>
              <a:rPr lang="en-US" altLang="en-US" sz="2800" dirty="0" err="1">
                <a:latin typeface="Arial" panose="020B0604020202020204" pitchFamily="34" charset="0"/>
              </a:rPr>
              <a:t>chuyển</a:t>
            </a:r>
            <a:r>
              <a:rPr lang="en-US" altLang="en-US" sz="2800" dirty="0">
                <a:latin typeface="Arial" panose="020B0604020202020204" pitchFamily="34" charset="0"/>
              </a:rPr>
              <a:t> </a:t>
            </a:r>
            <a:r>
              <a:rPr lang="en-US" altLang="en-US" sz="2800" dirty="0" err="1">
                <a:latin typeface="Arial" panose="020B0604020202020204" pitchFamily="34" charset="0"/>
              </a:rPr>
              <a:t>trạng</a:t>
            </a:r>
            <a:r>
              <a:rPr lang="en-US" altLang="en-US" sz="2800" dirty="0">
                <a:latin typeface="Arial" panose="020B0604020202020204" pitchFamily="34" charset="0"/>
              </a:rPr>
              <a:t> </a:t>
            </a:r>
            <a:r>
              <a:rPr lang="en-US" altLang="en-US" sz="2800" dirty="0" err="1">
                <a:latin typeface="Arial" panose="020B0604020202020204" pitchFamily="34" charset="0"/>
              </a:rPr>
              <a:t>thái</a:t>
            </a:r>
            <a:r>
              <a:rPr lang="en-US" altLang="en-US" sz="2800" dirty="0">
                <a:latin typeface="Arial" panose="020B0604020202020204" pitchFamily="34" charset="0"/>
              </a:rPr>
              <a:t> RED → GREEN → ORANGE → RED </a:t>
            </a:r>
            <a:r>
              <a:rPr lang="en-US" altLang="en-US" sz="2800" dirty="0" err="1">
                <a:latin typeface="Arial" panose="020B0604020202020204" pitchFamily="34" charset="0"/>
              </a:rPr>
              <a:t>đúng</a:t>
            </a:r>
            <a:r>
              <a:rPr lang="en-US" altLang="en-US" sz="2800" dirty="0">
                <a:latin typeface="Arial" panose="020B0604020202020204" pitchFamily="34" charset="0"/>
              </a:rPr>
              <a:t> chu </a:t>
            </a:r>
            <a:r>
              <a:rPr lang="en-US" altLang="en-US" sz="2800" dirty="0" err="1">
                <a:latin typeface="Arial" panose="020B0604020202020204" pitchFamily="34" charset="0"/>
              </a:rPr>
              <a:t>kỳ</a:t>
            </a:r>
            <a:r>
              <a:rPr lang="en-US" altLang="en-US" sz="2800" dirty="0">
                <a:latin typeface="Arial" panose="020B0604020202020204" pitchFamily="34" charset="0"/>
              </a:rPr>
              <a:t> </a:t>
            </a:r>
            <a:r>
              <a:rPr lang="en-US" altLang="en-US" sz="2800" dirty="0" err="1">
                <a:latin typeface="Arial" panose="020B0604020202020204" pitchFamily="34" charset="0"/>
              </a:rPr>
              <a:t>thiết</a:t>
            </a:r>
            <a:r>
              <a:rPr lang="en-US" altLang="en-US" sz="2800" dirty="0">
                <a:latin typeface="Arial" panose="020B0604020202020204" pitchFamily="34" charset="0"/>
              </a:rPr>
              <a:t> </a:t>
            </a:r>
            <a:r>
              <a:rPr lang="en-US" altLang="en-US" sz="2800" dirty="0" err="1">
                <a:latin typeface="Arial" panose="020B0604020202020204" pitchFamily="34" charset="0"/>
              </a:rPr>
              <a:t>kế</a:t>
            </a:r>
            <a:endParaRPr lang="en-US" altLang="en-US" sz="2800" dirty="0">
              <a:latin typeface="Arial" panose="020B0604020202020204" pitchFamily="34" charset="0"/>
            </a:endParaRPr>
          </a:p>
          <a:p>
            <a:pPr lvl="0" eaLnBrk="0" fontAlgn="base" hangingPunct="0">
              <a:spcBef>
                <a:spcPct val="0"/>
              </a:spcBef>
              <a:spcAft>
                <a:spcPct val="0"/>
              </a:spcAft>
              <a:buFontTx/>
              <a:buChar char="•"/>
            </a:pPr>
            <a:r>
              <a:rPr lang="vi-VN" altLang="en-US" sz="2800" dirty="0">
                <a:latin typeface="Arial" panose="020B0604020202020204" pitchFamily="34" charset="0"/>
              </a:rPr>
              <a:t> </a:t>
            </a:r>
            <a:r>
              <a:rPr lang="en-US" altLang="en-US" sz="2800" dirty="0" err="1">
                <a:latin typeface="Arial" panose="020B0604020202020204" pitchFamily="34" charset="0"/>
              </a:rPr>
              <a:t>Hệ</a:t>
            </a:r>
            <a:r>
              <a:rPr lang="en-US" altLang="en-US" sz="2800" dirty="0">
                <a:latin typeface="Arial" panose="020B0604020202020204" pitchFamily="34" charset="0"/>
              </a:rPr>
              <a:t> </a:t>
            </a:r>
            <a:r>
              <a:rPr lang="en-US" altLang="en-US" sz="2800" dirty="0" err="1">
                <a:latin typeface="Arial" panose="020B0604020202020204" pitchFamily="34" charset="0"/>
              </a:rPr>
              <a:t>thống</a:t>
            </a:r>
            <a:r>
              <a:rPr lang="en-US" altLang="en-US" sz="2800" dirty="0">
                <a:latin typeface="Arial" panose="020B0604020202020204" pitchFamily="34" charset="0"/>
              </a:rPr>
              <a:t> </a:t>
            </a:r>
            <a:r>
              <a:rPr lang="en-US" altLang="en-US" sz="2800" dirty="0" err="1">
                <a:latin typeface="Arial" panose="020B0604020202020204" pitchFamily="34" charset="0"/>
              </a:rPr>
              <a:t>phản</a:t>
            </a:r>
            <a:r>
              <a:rPr lang="en-US" altLang="en-US" sz="2800" dirty="0">
                <a:latin typeface="Arial" panose="020B0604020202020204" pitchFamily="34" charset="0"/>
              </a:rPr>
              <a:t> </a:t>
            </a:r>
            <a:r>
              <a:rPr lang="en-US" altLang="en-US" sz="2800" dirty="0" err="1">
                <a:latin typeface="Arial" panose="020B0604020202020204" pitchFamily="34" charset="0"/>
              </a:rPr>
              <a:t>hồi</a:t>
            </a:r>
            <a:r>
              <a:rPr lang="en-US" altLang="en-US" sz="2800" dirty="0">
                <a:latin typeface="Arial" panose="020B0604020202020204" pitchFamily="34" charset="0"/>
              </a:rPr>
              <a:t> </a:t>
            </a:r>
            <a:r>
              <a:rPr lang="en-US" altLang="en-US" sz="2800" dirty="0" err="1">
                <a:latin typeface="Arial" panose="020B0604020202020204" pitchFamily="34" charset="0"/>
              </a:rPr>
              <a:t>đúng</a:t>
            </a:r>
            <a:r>
              <a:rPr lang="en-US" altLang="en-US" sz="2800" dirty="0">
                <a:latin typeface="Arial" panose="020B0604020202020204" pitchFamily="34" charset="0"/>
              </a:rPr>
              <a:t> </a:t>
            </a:r>
            <a:r>
              <a:rPr lang="en-US" altLang="en-US" sz="2800" dirty="0" err="1">
                <a:latin typeface="Arial" panose="020B0604020202020204" pitchFamily="34" charset="0"/>
              </a:rPr>
              <a:t>với</a:t>
            </a:r>
            <a:r>
              <a:rPr lang="en-US" altLang="en-US" sz="2800" dirty="0">
                <a:latin typeface="Arial" panose="020B0604020202020204" pitchFamily="34" charset="0"/>
              </a:rPr>
              <a:t> </a:t>
            </a:r>
            <a:r>
              <a:rPr lang="en-US" altLang="en-US" sz="2800" dirty="0" err="1">
                <a:latin typeface="Arial" panose="020B0604020202020204" pitchFamily="34" charset="0"/>
              </a:rPr>
              <a:t>nút</a:t>
            </a:r>
            <a:r>
              <a:rPr lang="en-US" altLang="en-US" sz="2800" dirty="0">
                <a:latin typeface="Arial" panose="020B0604020202020204" pitchFamily="34" charset="0"/>
              </a:rPr>
              <a:t> </a:t>
            </a:r>
            <a:r>
              <a:rPr lang="en-US" altLang="en-US" sz="2800" dirty="0" err="1">
                <a:latin typeface="Arial" panose="020B0604020202020204" pitchFamily="34" charset="0"/>
              </a:rPr>
              <a:t>nhấn</a:t>
            </a:r>
            <a:r>
              <a:rPr lang="en-US" altLang="en-US" sz="2800" dirty="0">
                <a:latin typeface="Arial" panose="020B0604020202020204" pitchFamily="34" charset="0"/>
              </a:rPr>
              <a:t> pedestrian</a:t>
            </a:r>
          </a:p>
          <a:p>
            <a:pPr lvl="0" eaLnBrk="0" fontAlgn="base" hangingPunct="0">
              <a:spcBef>
                <a:spcPct val="0"/>
              </a:spcBef>
              <a:spcAft>
                <a:spcPct val="0"/>
              </a:spcAft>
              <a:buFontTx/>
              <a:buChar char="•"/>
            </a:pPr>
            <a:r>
              <a:rPr lang="vi-VN" altLang="en-US" sz="2800" dirty="0">
                <a:latin typeface="Arial" panose="020B0604020202020204" pitchFamily="34" charset="0"/>
              </a:rPr>
              <a:t> </a:t>
            </a:r>
            <a:r>
              <a:rPr lang="en-US" altLang="en-US" sz="2800" dirty="0" err="1">
                <a:latin typeface="Arial" panose="020B0604020202020204" pitchFamily="34" charset="0"/>
              </a:rPr>
              <a:t>Tín</a:t>
            </a:r>
            <a:r>
              <a:rPr lang="en-US" altLang="en-US" sz="2800" dirty="0">
                <a:latin typeface="Arial" panose="020B0604020202020204" pitchFamily="34" charset="0"/>
              </a:rPr>
              <a:t> </a:t>
            </a:r>
            <a:r>
              <a:rPr lang="en-US" altLang="en-US" sz="2800" dirty="0" err="1">
                <a:latin typeface="Arial" panose="020B0604020202020204" pitchFamily="34" charset="0"/>
              </a:rPr>
              <a:t>hiệu</a:t>
            </a:r>
            <a:r>
              <a:rPr lang="en-US" altLang="en-US" sz="2800" dirty="0">
                <a:latin typeface="Arial" panose="020B0604020202020204" pitchFamily="34" charset="0"/>
              </a:rPr>
              <a:t> pedestrian </a:t>
            </a:r>
            <a:r>
              <a:rPr lang="en-US" altLang="en-US" sz="2800" dirty="0" err="1">
                <a:latin typeface="Arial" panose="020B0604020202020204" pitchFamily="34" charset="0"/>
              </a:rPr>
              <a:t>và</a:t>
            </a:r>
            <a:r>
              <a:rPr lang="en-US" altLang="en-US" sz="2800" dirty="0">
                <a:latin typeface="Arial" panose="020B0604020202020204" pitchFamily="34" charset="0"/>
              </a:rPr>
              <a:t> buzzer </a:t>
            </a:r>
            <a:r>
              <a:rPr lang="en-US" altLang="en-US" sz="2800" dirty="0" err="1">
                <a:latin typeface="Arial" panose="020B0604020202020204" pitchFamily="34" charset="0"/>
              </a:rPr>
              <a:t>hoạt</a:t>
            </a:r>
            <a:r>
              <a:rPr lang="en-US" altLang="en-US" sz="2800" dirty="0">
                <a:latin typeface="Arial" panose="020B0604020202020204" pitchFamily="34" charset="0"/>
              </a:rPr>
              <a:t> </a:t>
            </a:r>
            <a:r>
              <a:rPr lang="en-US" altLang="en-US" sz="2800" dirty="0" err="1">
                <a:latin typeface="Arial" panose="020B0604020202020204" pitchFamily="34" charset="0"/>
              </a:rPr>
              <a:t>động</a:t>
            </a:r>
            <a:r>
              <a:rPr lang="en-US" altLang="en-US" sz="2800" dirty="0">
                <a:latin typeface="Arial" panose="020B0604020202020204" pitchFamily="34" charset="0"/>
              </a:rPr>
              <a:t> </a:t>
            </a:r>
            <a:r>
              <a:rPr lang="en-US" altLang="en-US" sz="2800" dirty="0" err="1">
                <a:latin typeface="Arial" panose="020B0604020202020204" pitchFamily="34" charset="0"/>
              </a:rPr>
              <a:t>đúng</a:t>
            </a:r>
            <a:r>
              <a:rPr lang="en-US" altLang="en-US" sz="2800" dirty="0">
                <a:latin typeface="Arial" panose="020B0604020202020204" pitchFamily="34" charset="0"/>
              </a:rPr>
              <a:t> logic</a:t>
            </a:r>
          </a:p>
          <a:p>
            <a:pPr lvl="0" eaLnBrk="0" fontAlgn="base" hangingPunct="0">
              <a:spcBef>
                <a:spcPct val="0"/>
              </a:spcBef>
              <a:spcAft>
                <a:spcPct val="0"/>
              </a:spcAft>
              <a:buFontTx/>
              <a:buChar char="•"/>
            </a:pPr>
            <a:r>
              <a:rPr lang="vi-VN" altLang="en-US" sz="2800" dirty="0">
                <a:latin typeface="Arial" panose="020B0604020202020204" pitchFamily="34" charset="0"/>
              </a:rPr>
              <a:t> </a:t>
            </a:r>
            <a:r>
              <a:rPr lang="en-US" altLang="en-US" sz="2800" dirty="0" err="1">
                <a:latin typeface="Arial" panose="020B0604020202020204" pitchFamily="34" charset="0"/>
              </a:rPr>
              <a:t>Không</a:t>
            </a:r>
            <a:r>
              <a:rPr lang="en-US" altLang="en-US" sz="2800" dirty="0">
                <a:latin typeface="Arial" panose="020B0604020202020204" pitchFamily="34" charset="0"/>
              </a:rPr>
              <a:t> </a:t>
            </a:r>
            <a:r>
              <a:rPr lang="en-US" altLang="en-US" sz="2800" dirty="0" err="1">
                <a:latin typeface="Arial" panose="020B0604020202020204" pitchFamily="34" charset="0"/>
              </a:rPr>
              <a:t>phát</a:t>
            </a:r>
            <a:r>
              <a:rPr lang="en-US" altLang="en-US" sz="2800" dirty="0">
                <a:latin typeface="Arial" panose="020B0604020202020204" pitchFamily="34" charset="0"/>
              </a:rPr>
              <a:t> </a:t>
            </a:r>
            <a:r>
              <a:rPr lang="en-US" altLang="en-US" sz="2800" dirty="0" err="1">
                <a:latin typeface="Arial" panose="020B0604020202020204" pitchFamily="34" charset="0"/>
              </a:rPr>
              <a:t>hiện</a:t>
            </a:r>
            <a:r>
              <a:rPr lang="en-US" altLang="en-US" sz="2800" dirty="0">
                <a:latin typeface="Arial" panose="020B0604020202020204" pitchFamily="34" charset="0"/>
              </a:rPr>
              <a:t> </a:t>
            </a:r>
            <a:r>
              <a:rPr lang="en-US" altLang="en-US" sz="2800" dirty="0" err="1">
                <a:latin typeface="Arial" panose="020B0604020202020204" pitchFamily="34" charset="0"/>
              </a:rPr>
              <a:t>lỗi</a:t>
            </a:r>
            <a:r>
              <a:rPr lang="en-US" altLang="en-US" sz="2800" dirty="0">
                <a:latin typeface="Arial" panose="020B0604020202020204" pitchFamily="34" charset="0"/>
              </a:rPr>
              <a:t> </a:t>
            </a:r>
            <a:r>
              <a:rPr lang="en-US" altLang="en-US" sz="2800" dirty="0" err="1">
                <a:latin typeface="Arial" panose="020B0604020202020204" pitchFamily="34" charset="0"/>
              </a:rPr>
              <a:t>nghiêm</a:t>
            </a:r>
            <a:r>
              <a:rPr lang="en-US" altLang="en-US" sz="2800" dirty="0">
                <a:latin typeface="Arial" panose="020B0604020202020204" pitchFamily="34" charset="0"/>
              </a:rPr>
              <a:t> </a:t>
            </a:r>
            <a:r>
              <a:rPr lang="en-US" altLang="en-US" sz="2800" dirty="0" err="1">
                <a:latin typeface="Arial" panose="020B0604020202020204" pitchFamily="34" charset="0"/>
              </a:rPr>
              <a:t>trọng</a:t>
            </a:r>
            <a:r>
              <a:rPr lang="en-US" altLang="en-US" sz="2800" dirty="0">
                <a:latin typeface="Arial" panose="020B0604020202020204" pitchFamily="34" charset="0"/>
              </a:rPr>
              <a:t> </a:t>
            </a:r>
            <a:r>
              <a:rPr lang="en-US" altLang="en-US" sz="2800" dirty="0" err="1">
                <a:latin typeface="Arial" panose="020B0604020202020204" pitchFamily="34" charset="0"/>
              </a:rPr>
              <a:t>gây</a:t>
            </a:r>
            <a:r>
              <a:rPr lang="en-US" altLang="en-US" sz="2800" dirty="0">
                <a:latin typeface="Arial" panose="020B0604020202020204" pitchFamily="34" charset="0"/>
              </a:rPr>
              <a:t> </a:t>
            </a:r>
            <a:r>
              <a:rPr lang="en-US" altLang="en-US" sz="2800" dirty="0" err="1">
                <a:latin typeface="Arial" panose="020B0604020202020204" pitchFamily="34" charset="0"/>
              </a:rPr>
              <a:t>dừng</a:t>
            </a:r>
            <a:r>
              <a:rPr lang="en-US" altLang="en-US" sz="2800" dirty="0">
                <a:latin typeface="Arial" panose="020B0604020202020204" pitchFamily="34" charset="0"/>
              </a:rPr>
              <a:t> </a:t>
            </a:r>
            <a:r>
              <a:rPr lang="en-US" altLang="en-US" sz="2800" dirty="0" err="1">
                <a:latin typeface="Arial" panose="020B0604020202020204" pitchFamily="34" charset="0"/>
              </a:rPr>
              <a:t>hệ</a:t>
            </a:r>
            <a:r>
              <a:rPr lang="en-US" altLang="en-US" sz="2800" dirty="0">
                <a:latin typeface="Arial" panose="020B0604020202020204" pitchFamily="34" charset="0"/>
              </a:rPr>
              <a:t> </a:t>
            </a:r>
            <a:r>
              <a:rPr lang="en-US" altLang="en-US" sz="2800" dirty="0" err="1">
                <a:latin typeface="Arial" panose="020B0604020202020204" pitchFamily="34" charset="0"/>
              </a:rPr>
              <a:t>thống</a:t>
            </a:r>
            <a:endParaRPr lang="en-US" altLang="en-US" sz="2800" dirty="0">
              <a:latin typeface="Arial" panose="020B0604020202020204" pitchFamily="34" charset="0"/>
            </a:endParaRPr>
          </a:p>
          <a:p>
            <a:endParaRPr lang="vi-VN" sz="2800" dirty="0"/>
          </a:p>
        </p:txBody>
      </p:sp>
      <p:sp>
        <p:nvSpPr>
          <p:cNvPr id="3" name="Freeform 2">
            <a:extLst>
              <a:ext uri="{FF2B5EF4-FFF2-40B4-BE49-F238E27FC236}">
                <a16:creationId xmlns:a16="http://schemas.microsoft.com/office/drawing/2014/main" id="{9684FDCD-5FCE-D1FD-24C5-EDD70A17D66B}"/>
              </a:ext>
            </a:extLst>
          </p:cNvPr>
          <p:cNvSpPr/>
          <p:nvPr/>
        </p:nvSpPr>
        <p:spPr>
          <a:xfrm rot="-2415644">
            <a:off x="-7517109" y="-46852"/>
            <a:ext cx="15465517" cy="5595705"/>
          </a:xfrm>
          <a:custGeom>
            <a:avLst/>
            <a:gdLst/>
            <a:ahLst/>
            <a:cxnLst/>
            <a:rect l="l" t="t" r="r" b="b"/>
            <a:pathLst>
              <a:path w="15465517" h="5595705">
                <a:moveTo>
                  <a:pt x="0" y="0"/>
                </a:moveTo>
                <a:lnTo>
                  <a:pt x="15465517" y="0"/>
                </a:lnTo>
                <a:lnTo>
                  <a:pt x="15465517" y="5595705"/>
                </a:lnTo>
                <a:lnTo>
                  <a:pt x="0" y="55957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dirty="0"/>
          </a:p>
        </p:txBody>
      </p:sp>
    </p:spTree>
    <p:extLst>
      <p:ext uri="{BB962C8B-B14F-4D97-AF65-F5344CB8AC3E}">
        <p14:creationId xmlns:p14="http://schemas.microsoft.com/office/powerpoint/2010/main" val="3393158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63824" y="-889328"/>
            <a:ext cx="3562544" cy="35625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DFA1"/>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3674"/>
                </a:lnSpc>
              </a:pPr>
              <a:endParaRPr sz="1400"/>
            </a:p>
          </p:txBody>
        </p:sp>
      </p:grpSp>
      <p:grpSp>
        <p:nvGrpSpPr>
          <p:cNvPr id="5" name="Group 5"/>
          <p:cNvGrpSpPr/>
          <p:nvPr/>
        </p:nvGrpSpPr>
        <p:grpSpPr>
          <a:xfrm>
            <a:off x="11888537" y="7992959"/>
            <a:ext cx="3407678" cy="340767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ACB5"/>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674"/>
                </a:lnSpc>
              </a:pPr>
              <a:endParaRPr sz="1400"/>
            </a:p>
          </p:txBody>
        </p:sp>
      </p:grpSp>
      <p:sp>
        <p:nvSpPr>
          <p:cNvPr id="8" name="TextBox 8"/>
          <p:cNvSpPr txBox="1"/>
          <p:nvPr/>
        </p:nvSpPr>
        <p:spPr>
          <a:xfrm>
            <a:off x="5145558" y="2997066"/>
            <a:ext cx="7996888" cy="4385816"/>
          </a:xfrm>
          <a:prstGeom prst="rect">
            <a:avLst/>
          </a:prstGeom>
        </p:spPr>
        <p:txBody>
          <a:bodyPr lIns="0" tIns="0" rIns="0" bIns="0" rtlCol="0" anchor="t">
            <a:spAutoFit/>
          </a:bodyPr>
          <a:lstStyle/>
          <a:p>
            <a:pPr algn="ctr">
              <a:lnSpc>
                <a:spcPts val="17082"/>
              </a:lnSpc>
            </a:pPr>
            <a:r>
              <a:rPr lang="en-US" sz="15530" dirty="0">
                <a:solidFill>
                  <a:srgbClr val="C96868"/>
                </a:solidFill>
                <a:latin typeface="Lazydog"/>
                <a:ea typeface="Lazydog"/>
                <a:cs typeface="Lazydog"/>
                <a:sym typeface="Lazydog"/>
              </a:rPr>
              <a:t>THANK YOU</a:t>
            </a:r>
          </a:p>
        </p:txBody>
      </p:sp>
      <p:grpSp>
        <p:nvGrpSpPr>
          <p:cNvPr id="9" name="Group 9"/>
          <p:cNvGrpSpPr/>
          <p:nvPr/>
        </p:nvGrpSpPr>
        <p:grpSpPr>
          <a:xfrm>
            <a:off x="1638792" y="7266592"/>
            <a:ext cx="657528" cy="65752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96868"/>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674"/>
                </a:lnSpc>
              </a:pPr>
              <a:endParaRPr sz="1400"/>
            </a:p>
          </p:txBody>
        </p:sp>
      </p:grpSp>
      <p:sp>
        <p:nvSpPr>
          <p:cNvPr id="12" name="Freeform 12"/>
          <p:cNvSpPr/>
          <p:nvPr/>
        </p:nvSpPr>
        <p:spPr>
          <a:xfrm rot="-555141">
            <a:off x="12457159" y="2771277"/>
            <a:ext cx="1343558" cy="1529930"/>
          </a:xfrm>
          <a:custGeom>
            <a:avLst/>
            <a:gdLst/>
            <a:ahLst/>
            <a:cxnLst/>
            <a:rect l="l" t="t" r="r" b="b"/>
            <a:pathLst>
              <a:path w="1343557" h="1529930">
                <a:moveTo>
                  <a:pt x="0" y="0"/>
                </a:moveTo>
                <a:lnTo>
                  <a:pt x="1343557" y="0"/>
                </a:lnTo>
                <a:lnTo>
                  <a:pt x="1343557" y="1529930"/>
                </a:lnTo>
                <a:lnTo>
                  <a:pt x="0" y="1529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4163824" y="5143500"/>
            <a:ext cx="1448084" cy="1008392"/>
          </a:xfrm>
          <a:custGeom>
            <a:avLst/>
            <a:gdLst/>
            <a:ahLst/>
            <a:cxnLst/>
            <a:rect l="l" t="t" r="r" b="b"/>
            <a:pathLst>
              <a:path w="1448083" h="1008392">
                <a:moveTo>
                  <a:pt x="0" y="0"/>
                </a:moveTo>
                <a:lnTo>
                  <a:pt x="1448083" y="0"/>
                </a:lnTo>
                <a:lnTo>
                  <a:pt x="1448083" y="1008392"/>
                </a:lnTo>
                <a:lnTo>
                  <a:pt x="0" y="10083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Bản đề xuất dự án Thuyết trình doanh nghiệp theo Phong cách Công nghệ Trừu tượng Xanh dương Đậm Hồng</Template>
  <TotalTime>469</TotalTime>
  <Words>1333</Words>
  <Application>Microsoft Office PowerPoint</Application>
  <PresentationFormat>Custom</PresentationFormat>
  <Paragraphs>341</Paragraphs>
  <Slides>12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Asap</vt:lpstr>
      <vt:lpstr>Calibri</vt:lpstr>
      <vt:lpstr>Arial</vt:lpstr>
      <vt:lpstr>Cabin Bold</vt:lpstr>
      <vt:lpstr>Asap Bold</vt:lpstr>
      <vt:lpstr>Lazydog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Tran Nguyen Khanh Ngoc</dc:creator>
  <cp:lastModifiedBy>Ngọc Trần Nguyễn Khánh</cp:lastModifiedBy>
  <cp:revision>31</cp:revision>
  <dcterms:created xsi:type="dcterms:W3CDTF">2025-11-17T03:10:53Z</dcterms:created>
  <dcterms:modified xsi:type="dcterms:W3CDTF">2026-03-17T08:47:46Z</dcterms:modified>
  <dc:identifier>DAG28L6QF0I</dc:identifier>
</cp:coreProperties>
</file>